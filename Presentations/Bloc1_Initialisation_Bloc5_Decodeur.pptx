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 contribution" id="{6DBEA5F2-CE59-E6FB-6232-1972FF8095F9}">
          <p14:sldIdLst>
            <p14:sldId id="256"/>
            <p14:sldId id="257"/>
          </p14:sldIdLst>
        </p14:section>
        <p14:section name="Bloc 1 — initialisation" id="{3E9676D9-6261-7AA7-E83F-5DCA7BDAF9FD}">
          <p14:sldIdLst>
            <p14:sldId id="258"/>
          </p14:sldIdLst>
        </p14:section>
        <p14:section name="Bloc 5 — décodeur" id="{F9A04169-756B-6F45-EB48-7DA236E19CF5}">
          <p14:sldIdLst>
            <p14:sldId id="259"/>
            <p14:sldId id="260"/>
          </p14:sldIdLst>
        </p14:section>
        <p14:section name="Complexité et bilan" id="{334EAC68-3265-1441-5F22-E2FC4C901AD2}">
          <p14:sldIdLst>
            <p14:sldId id="261"/>
            <p14:sldId id="262"/>
            <p14:sldId id="263"/>
          </p14:sldIdLst>
        </p14:section>
        <p14:section name="Annexes" id="{4F00989A-73EE-E27C-0979-E211847088F6}">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1.xlsx"/></Relationships>
</file>

<file path=ppt/charts/_rels/chart2.xml.rels><?xml version="1.0" encoding="UTF-8" standalone="yes"?>
<Relationships xmlns="http://schemas.openxmlformats.org/package/2006/relationships"><Relationship Id="rId1" Type="http://schemas.openxmlformats.org/officeDocument/2006/relationships/package" Target="../embeddings/Feuille_de_calcul_Microsoft_Excel2.xlsx"/></Relationships>
</file>

<file path=ppt/charts/_rels/chart3.xml.rels><?xml version="1.0" encoding="UTF-8" standalone="yes"?>
<Relationships xmlns="http://schemas.openxmlformats.org/package/2006/relationships"><Relationship Id="rId1" Type="http://schemas.openxmlformats.org/officeDocument/2006/relationships/package" Target="../embeddings/Feuille_de_calcul_Microsoft_Excel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fr-FR"/>
  <c:roundedCorners val="1"/>
  <c:style val="2"/>
  <c:chart>
    <c:title>
      <c:tx>
        <c:rich>
          <a:bodyPr/>
          <a:lstStyle/>
          <a:p>
            <a:pPr>
              <a:defRPr sz="1200" b="0" i="0" u="none" strike="noStrike">
                <a:solidFill>
                  <a:srgbClr val="14324A"/>
                </a:solidFill>
                <a:latin typeface="+mn-lt"/>
              </a:defRPr>
            </a:pPr>
            <a:r>
              <a:rPr lang="fr-FR" sz="1200" b="0" i="0" u="none" strike="noStrike">
                <a:solidFill>
                  <a:srgbClr val="14324A"/>
                </a:solidFill>
                <a:latin typeface="+mn-lt"/>
              </a:rPr>
              <a:t>% de la meilleure valeur connue (graine 42 ; actuel = moyenne)</a:t>
            </a:r>
          </a:p>
        </c:rich>
      </c:tx>
      <c:layout/>
      <c:overlay val="0"/>
    </c:title>
    <c:autoTitleDeleted val="0"/>
    <c:plotArea>
      <c:layout/>
      <c:barChart>
        <c:barDir val="col"/>
        <c:grouping val="clustered"/>
        <c:varyColors val="0"/>
        <c:ser>
          <c:idx val="0"/>
          <c:order val="0"/>
          <c:tx>
            <c:strRef>
              <c:f>Sheet1!$B$1</c:f>
              <c:strCache>
                <c:ptCount val="1"/>
                <c:pt idx="0">
                  <c:v>GA matrice (avant)</c:v>
                </c:pt>
              </c:strCache>
            </c:strRef>
          </c:tx>
          <c:spPr>
            <a:solidFill>
              <a:srgbClr val="B5485A"/>
            </a:solidFill>
            <a:effectLst/>
          </c:spPr>
          <c:invertIfNegative val="0"/>
          <c:dLbls>
            <c:numFmt formatCode="0" sourceLinked="0"/>
            <c:spPr>
              <a:noFill/>
              <a:ln>
                <a:noFill/>
              </a:ln>
              <a:effectLst/>
            </c:spPr>
            <c:txPr>
              <a:bodyPr/>
              <a:lstStyle/>
              <a:p>
                <a:pPr>
                  <a:defRPr sz="900" b="0" i="0" u="none" strike="noStrike">
                    <a:solidFill>
                      <a:srgbClr val="1B233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me at_the_zoo</c:v>
                </c:pt>
                <c:pt idx="1">
                  <c:v>instance1</c:v>
                </c:pt>
                <c:pt idx="2">
                  <c:v>instance2</c:v>
                </c:pt>
              </c:strCache>
            </c:strRef>
          </c:cat>
          <c:val>
            <c:numRef>
              <c:f>Sheet1!$B$2:$B$4</c:f>
              <c:numCache>
                <c:formatCode>General</c:formatCode>
                <c:ptCount val="3"/>
                <c:pt idx="0">
                  <c:v>55.4</c:v>
                </c:pt>
                <c:pt idx="1">
                  <c:v>41.6</c:v>
                </c:pt>
                <c:pt idx="2">
                  <c:v>69.599999999999994</c:v>
                </c:pt>
              </c:numCache>
            </c:numRef>
          </c:val>
        </c:ser>
        <c:ser>
          <c:idx val="1"/>
          <c:order val="1"/>
          <c:tx>
            <c:strRef>
              <c:f>Sheet1!$C$1</c:f>
              <c:strCache>
                <c:ptCount val="1"/>
                <c:pt idx="0">
                  <c:v>glouton v1</c:v>
                </c:pt>
              </c:strCache>
            </c:strRef>
          </c:tx>
          <c:spPr>
            <a:solidFill>
              <a:srgbClr val="8DB8C2"/>
            </a:solidFill>
            <a:effectLst/>
          </c:spPr>
          <c:invertIfNegative val="0"/>
          <c:dLbls>
            <c:numFmt formatCode="0" sourceLinked="0"/>
            <c:spPr>
              <a:noFill/>
              <a:ln>
                <a:noFill/>
              </a:ln>
              <a:effectLst/>
            </c:spPr>
            <c:txPr>
              <a:bodyPr/>
              <a:lstStyle/>
              <a:p>
                <a:pPr>
                  <a:defRPr sz="900" b="0" i="0" u="none" strike="noStrike">
                    <a:solidFill>
                      <a:srgbClr val="1B233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me at_the_zoo</c:v>
                </c:pt>
                <c:pt idx="1">
                  <c:v>instance1</c:v>
                </c:pt>
                <c:pt idx="2">
                  <c:v>instance2</c:v>
                </c:pt>
              </c:strCache>
            </c:strRef>
          </c:cat>
          <c:val>
            <c:numRef>
              <c:f>Sheet1!$C$2:$C$4</c:f>
              <c:numCache>
                <c:formatCode>General</c:formatCode>
                <c:ptCount val="3"/>
                <c:pt idx="0">
                  <c:v>89.6</c:v>
                </c:pt>
                <c:pt idx="1">
                  <c:v>52.5</c:v>
                </c:pt>
                <c:pt idx="2">
                  <c:v>60.4</c:v>
                </c:pt>
              </c:numCache>
            </c:numRef>
          </c:val>
        </c:ser>
        <c:ser>
          <c:idx val="2"/>
          <c:order val="2"/>
          <c:tx>
            <c:strRef>
              <c:f>Sheet1!$D$1</c:f>
              <c:strCache>
                <c:ptCount val="1"/>
                <c:pt idx="0">
                  <c:v>glouton v2</c:v>
                </c:pt>
              </c:strCache>
            </c:strRef>
          </c:tx>
          <c:spPr>
            <a:solidFill>
              <a:srgbClr val="6B7A8F"/>
            </a:solidFill>
            <a:effectLst/>
          </c:spPr>
          <c:invertIfNegative val="0"/>
          <c:dLbls>
            <c:numFmt formatCode="0" sourceLinked="0"/>
            <c:spPr>
              <a:noFill/>
              <a:ln>
                <a:noFill/>
              </a:ln>
              <a:effectLst/>
            </c:spPr>
            <c:txPr>
              <a:bodyPr/>
              <a:lstStyle/>
              <a:p>
                <a:pPr>
                  <a:defRPr sz="900" b="0" i="0" u="none" strike="noStrike">
                    <a:solidFill>
                      <a:srgbClr val="1B233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me at_the_zoo</c:v>
                </c:pt>
                <c:pt idx="1">
                  <c:v>instance1</c:v>
                </c:pt>
                <c:pt idx="2">
                  <c:v>instance2</c:v>
                </c:pt>
              </c:strCache>
            </c:strRef>
          </c:cat>
          <c:val>
            <c:numRef>
              <c:f>Sheet1!$D$2:$D$4</c:f>
              <c:numCache>
                <c:formatCode>General</c:formatCode>
                <c:ptCount val="3"/>
                <c:pt idx="0">
                  <c:v>89.1</c:v>
                </c:pt>
                <c:pt idx="1">
                  <c:v>95.5</c:v>
                </c:pt>
                <c:pt idx="2">
                  <c:v>96.6</c:v>
                </c:pt>
              </c:numCache>
            </c:numRef>
          </c:val>
        </c:ser>
        <c:ser>
          <c:idx val="3"/>
          <c:order val="3"/>
          <c:tx>
            <c:strRef>
              <c:f>Sheet1!$E$1</c:f>
              <c:strCache>
                <c:ptCount val="1"/>
                <c:pt idx="0">
                  <c:v>GA actuel</c:v>
                </c:pt>
              </c:strCache>
            </c:strRef>
          </c:tx>
          <c:spPr>
            <a:solidFill>
              <a:srgbClr val="0F7C8C"/>
            </a:solidFill>
            <a:effectLst/>
          </c:spPr>
          <c:invertIfNegative val="0"/>
          <c:dLbls>
            <c:numFmt formatCode="0" sourceLinked="0"/>
            <c:spPr>
              <a:noFill/>
              <a:ln>
                <a:noFill/>
              </a:ln>
              <a:effectLst/>
            </c:spPr>
            <c:txPr>
              <a:bodyPr/>
              <a:lstStyle/>
              <a:p>
                <a:pPr>
                  <a:defRPr sz="900" b="0" i="0" u="none" strike="noStrike">
                    <a:solidFill>
                      <a:srgbClr val="1B233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me at_the_zoo</c:v>
                </c:pt>
                <c:pt idx="1">
                  <c:v>instance1</c:v>
                </c:pt>
                <c:pt idx="2">
                  <c:v>instance2</c:v>
                </c:pt>
              </c:strCache>
            </c:strRef>
          </c:cat>
          <c:val>
            <c:numRef>
              <c:f>Sheet1!$E$2:$E$4</c:f>
              <c:numCache>
                <c:formatCode>General</c:formatCode>
                <c:ptCount val="3"/>
                <c:pt idx="0">
                  <c:v>97.5</c:v>
                </c:pt>
                <c:pt idx="1">
                  <c:v>95.6</c:v>
                </c:pt>
                <c:pt idx="2">
                  <c:v>96.7</c:v>
                </c:pt>
              </c:numCache>
            </c:numRef>
          </c:val>
        </c:ser>
        <c:dLbls>
          <c:showLegendKey val="0"/>
          <c:showVal val="1"/>
          <c:showCatName val="0"/>
          <c:showSerName val="0"/>
          <c:showPercent val="0"/>
          <c:showBubbleSize val="0"/>
        </c:dLbls>
        <c:gapWidth val="150"/>
        <c:axId val="-1483733872"/>
        <c:axId val="-1483739856"/>
      </c:barChart>
      <c:catAx>
        <c:axId val="-148373387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4324A"/>
                </a:solidFill>
                <a:latin typeface="+mn-lt"/>
              </a:defRPr>
            </a:pPr>
            <a:endParaRPr lang="fr-FR"/>
          </a:p>
        </c:txPr>
        <c:crossAx val="-1483739856"/>
        <c:crosses val="autoZero"/>
        <c:auto val="1"/>
        <c:lblAlgn val="ctr"/>
        <c:lblOffset val="100"/>
        <c:noMultiLvlLbl val="1"/>
      </c:catAx>
      <c:valAx>
        <c:axId val="-1483739856"/>
        <c:scaling>
          <c:orientation val="minMax"/>
          <c:max val="110"/>
          <c:min val="0"/>
        </c:scaling>
        <c:delete val="0"/>
        <c:axPos val="l"/>
        <c:majorGridlines>
          <c:spPr>
            <a:ln w="6350" cap="flat">
              <a:solidFill>
                <a:srgbClr val="D9E1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F"/>
                </a:solidFill>
                <a:latin typeface="+mn-lt"/>
              </a:defRPr>
            </a:pPr>
            <a:endParaRPr lang="fr-FR"/>
          </a:p>
        </c:txPr>
        <c:crossAx val="-1483733872"/>
        <c:crosses val="autoZero"/>
        <c:crossBetween val="between"/>
      </c:valAx>
      <c:spPr>
        <a:noFill/>
        <a:ln>
          <a:noFill/>
        </a:ln>
        <a:effectLst/>
      </c:spPr>
    </c:plotArea>
    <c:legend>
      <c:legendPos val="b"/>
      <c:layout/>
      <c:overlay val="0"/>
      <c:txPr>
        <a:bodyPr/>
        <a:lstStyle/>
        <a:p>
          <a:pPr>
            <a:defRPr sz="1000">
              <a:latin typeface="+mn-lt"/>
              <a:cs typeface="+mn-lt"/>
            </a:defRPr>
          </a:pPr>
          <a:endParaRPr lang="fr-F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fr-FR"/>
  <c:roundedCorners val="1"/>
  <c:style val="2"/>
  <c:chart>
    <c:title>
      <c:tx>
        <c:rich>
          <a:bodyPr/>
          <a:lstStyle/>
          <a:p>
            <a:pPr>
              <a:defRPr sz="1200" b="0" i="0" u="none" strike="noStrike">
                <a:solidFill>
                  <a:srgbClr val="14324A"/>
                </a:solidFill>
                <a:latin typeface="+mn-lt"/>
              </a:defRPr>
            </a:pPr>
            <a:r>
              <a:rPr lang="fr-FR" sz="1200" b="0" i="0" u="none" strike="noStrike">
                <a:solidFill>
                  <a:srgbClr val="14324A"/>
                </a:solidFill>
                <a:latin typeface="+mn-lt"/>
              </a:rPr>
              <a:t>Score relatif (final de la variante 0 = 100) — 9 instances × 5 graines</a:t>
            </a:r>
          </a:p>
        </c:rich>
      </c:tx>
      <c:layout/>
      <c:overlay val="0"/>
    </c:title>
    <c:autoTitleDeleted val="0"/>
    <c:plotArea>
      <c:layout/>
      <c:barChart>
        <c:barDir val="col"/>
        <c:grouping val="clustered"/>
        <c:varyColors val="0"/>
        <c:ser>
          <c:idx val="0"/>
          <c:order val="0"/>
          <c:tx>
            <c:strRef>
              <c:f>Sheet1!$B$1</c:f>
              <c:strCache>
                <c:ptCount val="1"/>
                <c:pt idx="0">
                  <c:v>moyenne de la population initiale</c:v>
                </c:pt>
              </c:strCache>
            </c:strRef>
          </c:tx>
          <c:spPr>
            <a:solidFill>
              <a:srgbClr val="8DB8C2"/>
            </a:solidFill>
            <a:effectLst/>
          </c:spPr>
          <c:invertIfNegative val="0"/>
          <c:cat>
            <c:strRef>
              <c:f>Sheet1!$A$2:$A$7</c:f>
              <c:strCache>
                <c:ptCount val="6"/>
                <c:pt idx="0">
                  <c:v>0 base</c:v>
                </c:pt>
                <c:pt idx="1">
                  <c:v>1 hasard</c:v>
                </c:pt>
                <c:pt idx="2">
                  <c:v>2 additif</c:v>
                </c:pt>
                <c:pt idx="3">
                  <c:v>3 densité</c:v>
                </c:pt>
                <c:pt idx="4">
                  <c:v>4 mélange</c:v>
                </c:pt>
                <c:pt idx="5">
                  <c:v>5 hybride</c:v>
                </c:pt>
              </c:strCache>
            </c:strRef>
          </c:cat>
          <c:val>
            <c:numRef>
              <c:f>Sheet1!$B$2:$B$7</c:f>
              <c:numCache>
                <c:formatCode>General</c:formatCode>
                <c:ptCount val="6"/>
                <c:pt idx="0">
                  <c:v>92.2</c:v>
                </c:pt>
                <c:pt idx="1">
                  <c:v>58.9</c:v>
                </c:pt>
                <c:pt idx="2">
                  <c:v>85.5</c:v>
                </c:pt>
                <c:pt idx="3">
                  <c:v>92.2</c:v>
                </c:pt>
                <c:pt idx="4">
                  <c:v>89.2</c:v>
                </c:pt>
                <c:pt idx="5">
                  <c:v>87.9</c:v>
                </c:pt>
              </c:numCache>
            </c:numRef>
          </c:val>
        </c:ser>
        <c:ser>
          <c:idx val="1"/>
          <c:order val="1"/>
          <c:tx>
            <c:strRef>
              <c:f>Sheet1!$C$1</c:f>
              <c:strCache>
                <c:ptCount val="1"/>
                <c:pt idx="0">
                  <c:v>meilleur individu initial</c:v>
                </c:pt>
              </c:strCache>
            </c:strRef>
          </c:tx>
          <c:spPr>
            <a:solidFill>
              <a:srgbClr val="6B7A8F"/>
            </a:solidFill>
            <a:effectLst/>
          </c:spPr>
          <c:invertIfNegative val="0"/>
          <c:cat>
            <c:strRef>
              <c:f>Sheet1!$A$2:$A$7</c:f>
              <c:strCache>
                <c:ptCount val="6"/>
                <c:pt idx="0">
                  <c:v>0 base</c:v>
                </c:pt>
                <c:pt idx="1">
                  <c:v>1 hasard</c:v>
                </c:pt>
                <c:pt idx="2">
                  <c:v>2 additif</c:v>
                </c:pt>
                <c:pt idx="3">
                  <c:v>3 densité</c:v>
                </c:pt>
                <c:pt idx="4">
                  <c:v>4 mélange</c:v>
                </c:pt>
                <c:pt idx="5">
                  <c:v>5 hybride</c:v>
                </c:pt>
              </c:strCache>
            </c:strRef>
          </c:cat>
          <c:val>
            <c:numRef>
              <c:f>Sheet1!$C$2:$C$7</c:f>
              <c:numCache>
                <c:formatCode>General</c:formatCode>
                <c:ptCount val="6"/>
                <c:pt idx="0">
                  <c:v>99.7</c:v>
                </c:pt>
                <c:pt idx="1">
                  <c:v>63.2</c:v>
                </c:pt>
                <c:pt idx="2">
                  <c:v>99.4</c:v>
                </c:pt>
                <c:pt idx="3">
                  <c:v>99.7</c:v>
                </c:pt>
                <c:pt idx="4">
                  <c:v>98.9</c:v>
                </c:pt>
                <c:pt idx="5">
                  <c:v>99.5</c:v>
                </c:pt>
              </c:numCache>
            </c:numRef>
          </c:val>
        </c:ser>
        <c:ser>
          <c:idx val="2"/>
          <c:order val="2"/>
          <c:tx>
            <c:strRef>
              <c:f>Sheet1!$D$1</c:f>
              <c:strCache>
                <c:ptCount val="1"/>
                <c:pt idx="0">
                  <c:v>meilleur individu final</c:v>
                </c:pt>
              </c:strCache>
            </c:strRef>
          </c:tx>
          <c:spPr>
            <a:solidFill>
              <a:srgbClr val="0F7C8C"/>
            </a:solidFill>
            <a:effectLst/>
          </c:spPr>
          <c:invertIfNegative val="0"/>
          <c:cat>
            <c:strRef>
              <c:f>Sheet1!$A$2:$A$7</c:f>
              <c:strCache>
                <c:ptCount val="6"/>
                <c:pt idx="0">
                  <c:v>0 base</c:v>
                </c:pt>
                <c:pt idx="1">
                  <c:v>1 hasard</c:v>
                </c:pt>
                <c:pt idx="2">
                  <c:v>2 additif</c:v>
                </c:pt>
                <c:pt idx="3">
                  <c:v>3 densité</c:v>
                </c:pt>
                <c:pt idx="4">
                  <c:v>4 mélange</c:v>
                </c:pt>
                <c:pt idx="5">
                  <c:v>5 hybride</c:v>
                </c:pt>
              </c:strCache>
            </c:strRef>
          </c:cat>
          <c:val>
            <c:numRef>
              <c:f>Sheet1!$D$2:$D$7</c:f>
              <c:numCache>
                <c:formatCode>General</c:formatCode>
                <c:ptCount val="6"/>
                <c:pt idx="0">
                  <c:v>100</c:v>
                </c:pt>
                <c:pt idx="1">
                  <c:v>67.5</c:v>
                </c:pt>
                <c:pt idx="2">
                  <c:v>99.8</c:v>
                </c:pt>
                <c:pt idx="3">
                  <c:v>99.9</c:v>
                </c:pt>
                <c:pt idx="4">
                  <c:v>99.9</c:v>
                </c:pt>
                <c:pt idx="5">
                  <c:v>100</c:v>
                </c:pt>
              </c:numCache>
            </c:numRef>
          </c:val>
        </c:ser>
        <c:dLbls>
          <c:showLegendKey val="0"/>
          <c:showVal val="0"/>
          <c:showCatName val="0"/>
          <c:showSerName val="0"/>
          <c:showPercent val="0"/>
          <c:showBubbleSize val="0"/>
        </c:dLbls>
        <c:gapWidth val="150"/>
        <c:axId val="-1483748016"/>
        <c:axId val="-1483747472"/>
      </c:barChart>
      <c:catAx>
        <c:axId val="-148374801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4324A"/>
                </a:solidFill>
                <a:latin typeface="+mn-lt"/>
              </a:defRPr>
            </a:pPr>
            <a:endParaRPr lang="fr-FR"/>
          </a:p>
        </c:txPr>
        <c:crossAx val="-1483747472"/>
        <c:crosses val="autoZero"/>
        <c:auto val="1"/>
        <c:lblAlgn val="ctr"/>
        <c:lblOffset val="100"/>
        <c:noMultiLvlLbl val="1"/>
      </c:catAx>
      <c:valAx>
        <c:axId val="-1483747472"/>
        <c:scaling>
          <c:orientation val="minMax"/>
          <c:max val="105"/>
          <c:min val="0"/>
        </c:scaling>
        <c:delete val="0"/>
        <c:axPos val="l"/>
        <c:majorGridlines>
          <c:spPr>
            <a:ln w="6350" cap="flat">
              <a:solidFill>
                <a:srgbClr val="D9E1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F"/>
                </a:solidFill>
                <a:latin typeface="+mn-lt"/>
              </a:defRPr>
            </a:pPr>
            <a:endParaRPr lang="fr-FR"/>
          </a:p>
        </c:txPr>
        <c:crossAx val="-1483748016"/>
        <c:crosses val="autoZero"/>
        <c:crossBetween val="between"/>
      </c:valAx>
      <c:spPr>
        <a:noFill/>
        <a:ln>
          <a:noFill/>
        </a:ln>
        <a:effectLst/>
      </c:spPr>
    </c:plotArea>
    <c:legend>
      <c:legendPos val="b"/>
      <c:layout/>
      <c:overlay val="0"/>
      <c:txPr>
        <a:bodyPr/>
        <a:lstStyle/>
        <a:p>
          <a:pPr>
            <a:defRPr sz="1000">
              <a:latin typeface="+mn-lt"/>
              <a:cs typeface="+mn-lt"/>
            </a:defRPr>
          </a:pPr>
          <a:endParaRPr lang="fr-FR"/>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fr-FR"/>
  <c:roundedCorners val="1"/>
  <c:style val="2"/>
  <c:chart>
    <c:title>
      <c:tx>
        <c:rich>
          <a:bodyPr/>
          <a:lstStyle/>
          <a:p>
            <a:pPr>
              <a:defRPr sz="1200" b="0" i="0" u="none" strike="noStrike">
                <a:solidFill>
                  <a:srgbClr val="14324A"/>
                </a:solidFill>
                <a:latin typeface="+mn-lt"/>
              </a:defRPr>
            </a:pPr>
            <a:r>
              <a:rPr lang="fr-FR" sz="1200" b="0" i="0" u="none" strike="noStrike">
                <a:solidFill>
                  <a:srgbClr val="14324A"/>
                </a:solidFill>
                <a:latin typeface="+mn-lt"/>
              </a:rPr>
              <a:t>Score relatif moyen (décodeur 0 = 100), 9 instances</a:t>
            </a:r>
          </a:p>
        </c:rich>
      </c:tx>
      <c:layout/>
      <c:overlay val="0"/>
    </c:title>
    <c:autoTitleDeleted val="0"/>
    <c:plotArea>
      <c:layout/>
      <c:barChart>
        <c:barDir val="bar"/>
        <c:grouping val="clustered"/>
        <c:varyColors val="0"/>
        <c:ser>
          <c:idx val="0"/>
          <c:order val="0"/>
          <c:tx>
            <c:strRef>
              <c:f>Sheet1!$B$1</c:f>
              <c:strCache>
                <c:ptCount val="1"/>
                <c:pt idx="0">
                  <c:v>score relatif</c:v>
                </c:pt>
              </c:strCache>
            </c:strRef>
          </c:tx>
          <c:spPr>
            <a:solidFill>
              <a:srgbClr val="0F7C8C"/>
            </a:solidFill>
            <a:effectLst/>
          </c:spPr>
          <c:invertIfNegative val="0"/>
          <c:dPt>
            <c:idx val="0"/>
            <c:invertIfNegative val="0"/>
            <c:bubble3D val="0"/>
          </c:dPt>
          <c:dPt>
            <c:idx val="1"/>
            <c:invertIfNegative val="0"/>
            <c:bubble3D val="0"/>
            <c:spPr>
              <a:solidFill>
                <a:srgbClr val="8DB8C2"/>
              </a:solidFill>
              <a:effectLst/>
            </c:spPr>
          </c:dPt>
          <c:dPt>
            <c:idx val="2"/>
            <c:invertIfNegative val="0"/>
            <c:bubble3D val="0"/>
            <c:spPr>
              <a:solidFill>
                <a:srgbClr val="B5485A"/>
              </a:solidFill>
              <a:effectLst/>
            </c:spPr>
          </c:dPt>
          <c:dPt>
            <c:idx val="3"/>
            <c:invertIfNegative val="0"/>
            <c:bubble3D val="0"/>
            <c:spPr>
              <a:solidFill>
                <a:srgbClr val="E07A3F"/>
              </a:solidFill>
              <a:effectLst/>
            </c:spPr>
          </c:dPt>
          <c:dPt>
            <c:idx val="4"/>
            <c:invertIfNegative val="0"/>
            <c:bubble3D val="0"/>
            <c:spPr>
              <a:solidFill>
                <a:srgbClr val="6B7A8F"/>
              </a:solidFill>
              <a:effectLst/>
            </c:spPr>
          </c:dPt>
          <c:dLbls>
            <c:numFmt formatCode="0.0" sourceLinked="0"/>
            <c:spPr>
              <a:noFill/>
              <a:ln>
                <a:noFill/>
              </a:ln>
              <a:effectLst/>
            </c:spPr>
            <c:txPr>
              <a:bodyPr/>
              <a:lstStyle/>
              <a:p>
                <a:pPr>
                  <a:defRPr sz="900" b="0" i="0" u="none" strike="noStrike">
                    <a:solidFill>
                      <a:srgbClr val="1B233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0 tours</c:v>
                </c:pt>
                <c:pt idx="1">
                  <c:v>1 marge 15 %</c:v>
                </c:pt>
                <c:pt idx="2">
                  <c:v>2 centré caches</c:v>
                </c:pt>
                <c:pt idx="3">
                  <c:v>3 seuils fixes</c:v>
                </c:pt>
                <c:pt idx="4">
                  <c:v>4 seuils co-évol.</c:v>
                </c:pt>
              </c:strCache>
            </c:strRef>
          </c:cat>
          <c:val>
            <c:numRef>
              <c:f>Sheet1!$B$2:$B$6</c:f>
              <c:numCache>
                <c:formatCode>General</c:formatCode>
                <c:ptCount val="5"/>
                <c:pt idx="0">
                  <c:v>100</c:v>
                </c:pt>
                <c:pt idx="1">
                  <c:v>93.9</c:v>
                </c:pt>
                <c:pt idx="2">
                  <c:v>59.2</c:v>
                </c:pt>
                <c:pt idx="3">
                  <c:v>89.6</c:v>
                </c:pt>
                <c:pt idx="4">
                  <c:v>100</c:v>
                </c:pt>
              </c:numCache>
            </c:numRef>
          </c:val>
        </c:ser>
        <c:dLbls>
          <c:showLegendKey val="0"/>
          <c:showVal val="1"/>
          <c:showCatName val="0"/>
          <c:showSerName val="0"/>
          <c:showPercent val="0"/>
          <c:showBubbleSize val="0"/>
        </c:dLbls>
        <c:gapWidth val="150"/>
        <c:axId val="-1483739312"/>
        <c:axId val="-1483737680"/>
      </c:barChart>
      <c:catAx>
        <c:axId val="-1483739312"/>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324A"/>
                </a:solidFill>
                <a:latin typeface="+mn-lt"/>
              </a:defRPr>
            </a:pPr>
            <a:endParaRPr lang="fr-FR"/>
          </a:p>
        </c:txPr>
        <c:crossAx val="-1483737680"/>
        <c:crosses val="autoZero"/>
        <c:auto val="1"/>
        <c:lblAlgn val="ctr"/>
        <c:lblOffset val="100"/>
        <c:noMultiLvlLbl val="1"/>
      </c:catAx>
      <c:valAx>
        <c:axId val="-1483737680"/>
        <c:scaling>
          <c:orientation val="minMax"/>
          <c:max val="115"/>
          <c:min val="0"/>
        </c:scaling>
        <c:delete val="1"/>
        <c:axPos val="t"/>
        <c:majorGridlines>
          <c:spPr>
            <a:ln w="6350" cap="flat">
              <a:solidFill>
                <a:srgbClr val="D9E1E6"/>
              </a:solidFill>
              <a:prstDash val="solid"/>
              <a:round/>
            </a:ln>
          </c:spPr>
        </c:majorGridlines>
        <c:numFmt formatCode="General" sourceLinked="0"/>
        <c:majorTickMark val="out"/>
        <c:minorTickMark val="none"/>
        <c:tickLblPos val="low"/>
        <c:crossAx val="-1483739312"/>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193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pitch initial utilisait un GA sur une matrice caches × vidéos : un espace énorme, un départ aléatoire, et des caches remplis de vidéos que personne ne demande. Ma solution change la représentation : le chromosome est un ordre de vidéos utiles, et c'est un glouton qui transforme cet ordre en solution valide. Les contraintes de capacité sont respectées par construction, et le GA ne cherche plus que l'ordre de priorité.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travail tient en quatre éléments : l'utilité de chaque vidéo, le remplissage par tours, le GA par permutation qui sert de référence, et la correction du calcul des requêtes en double avec un vérificateur indépendant. Le graphique montre l'évolution sur les instances qui ont une meilleure valeur connue : sur instance1, on passe de 41,6 % avec l'ancien GA à 95,5 % avec le glouton v2. C'est le glouton par tours qui fait le grand saut ; le GA par permutation ajoute ensuite un petit gain. Le glouton v1, qui mettait chaque vidéo dans tous les caches avant de passer à la suivante, était bien moins bon sur les instances promo.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 1. Question : est-ce que bien choisir la population de départ aide le GA ? On a comparé six initialisations sur 9 instances et 5 graines. Résultat 1 : partir du hasard est catastrophique. Le score final ne vaut que 67,5 % de la base en moyenne, et descend à 23,1 % sur la pire instance ; il perd significativement sur 9 instances sur 9. Résultat 2 : avec une initialisation par l'utilité, le meilleur individu initial vaut déjà 99,7 % du résultat final. Le GA n'ajoute que 0,35 % : c'est l'initialisation qui fait presque tout le travail. Résultat 3 : les variantes 2 à 5 sont toutes à moins d'un pour cent de la base ; l'hybride gagne significativement sur 0 instance et perd sur 2. La variante 3 a la même formule que la base avec d'autres tirages : son écart mesure le bruit, et il est du même ordre que les autres variantes. Gagnante : la variante 0, la mienne : aucune variante ne la bat significativement, et elle a le meilleur rang moyen (2,22). Le hasard pur, qui ressemble à l'initialisation de l'ancien GA, est à exclure.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 5. Question : quelle est la meilleure façon de transformer un ordre de vidéos en solution ? Cinq décodeurs, mêmes instances, mêmes graines. Mon glouton par tours, le décodeur 0, reste la référence. Le décodeur 4 de Thomas est à égalité : 99,98 en moyenne, meilleur rang moyen (1,89 contre 2,33), mais il ne gagne significativement que sur 1 instance et perd sur 1. Les décodeurs 1, 2 et 3 perdent significativement sur 8, 8 et 3 instances sur 9. Les statistiques de solution expliquent pourquoi : le décodeur 2 remplit les caches à 99,7 %, mais met les mêmes vidéos partout, 18,2 copies par vidéo, dont 30,0 % sont inutiles. Le remplissage seul n'est donc pas un bon indicateur. Le décodeur 1 ne fait jamais de copie, ce qui coûte cher là où les vidéos populaires doivent être répliquées. Point important : le décodeur 2 gagne sur l'instance creuse et plate, où chaque endpoint ne voit qu'un cache : là, copier les vidéos les plus utiles partout vaut mieux que d'ajouter des vidéos nouvelles. C'est exactement la faiblesse de mon remplissage par tours, et cela donne la piste d'amélioration principale.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a ajouté deux seuils au glouton : refuser une vidéo si son gain par Mo est trop faible, et réserver une partie des caches. Dans le décodeur 3 ils sont fixes, dans le décodeur 4 ils évoluent avec le chromosome. J'ai fait une étude de sensibilité : un seuil varie, l'autre est à zéro, quatre instances, trois graines. Découverte : sur instance1, τ_densité = 10 fait passer de 95,6 % à 98,7 % de la meilleure valeur connue. Le mécanisme se voit dans les statistiques : en refusant les placements peu rentables au premier tour, on libère de la place pour copier les vidéos populaires, copies par vidéo 1,02 → 1,20. C'est exactement la faiblesse de mon remplissage par tours. Mais trop haut, tout s'effondre : 14,1 % à τ = 100 sur instance1, et 12,5 % à 0,15 sur instance3, où les vidéos sont énormes. L'utilité médiane va de 0,02 à 9 829 182 selon l'instance : un seuil absolu ne peut pas convenir à toutes. Le seuil de réserve n'améliore jamais rien. Et le décodeur 4 ne peut pas trouver la bonne valeur, car ses seuils sont bornés entre 0 et 0,5. Conclusion : l'idée de Thomas est bonne, mais il faut un seuil relatif à l'instance et une plage plus large.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opérateur de mes blocs, j'ai lu la complexité dans le code, puis je l'ai vérifiée : pour chaque instance, je calcule la quantité de travail prévue par la formule, et je la compare au temps mesuré d'une évaluation. glouton (déc. 0, 3, 4) : pente 0,96, corrélation 0,99. déc. 1 : pente 0,85, corrélation 1,00. déc. 2 : pente 0,88, corrélation 0,98. Les initialisations coûtent n log n une seule fois par individu, c'est négligeable : tout le temps du GA est dans le décodeur, appelé à chaque évaluation.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bilan SWOT de mes deux blocs, chaque point appuyé par une mesure. Forces : l'initialisation par l'utilité est indispensable, le hasard ne fait que 67,5 % ; le glouton remplit les caches à 99,3 % avec seulement 0,27 % de copies inutiles. Faiblesses : le GA n'apporte que 0,35 % au-dessus du meilleur individu initial, et le remplissage par tours ne copie pas assez les vidéos populaires. Opportunités : comparer à chaque étape la valeur d'une copie et d'une nouvelle vidéo, au gain marginal par Mo, et rendre les seuils relatifs. Menaces : les seuils absolus, et des mesures faussées si l'on oublie la correction des requêtes en double.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pistes. Un : mieux gérer les copies des vidéos populaires, c'est là que mon glouton perd le plus (videos_worth_spreading, dejavu). Deux : rendre les seuils relatifs à l'instance. Trois : mesurer proprement, avec la correction des requêtes et sans les décodages cachés, qui multiplient le temps par trois et demi sans changer les scores. Quatre : le GA s'arrête vite, environ 26 générations : il faut régler ses paramètres avec plusieurs graines.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 des six initialisations, de leur coût et du score final relatif à la variante 0 (= 100), avec le gain apporté par le GA au-dessus du meilleur individu initial.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 des cinq décodeurs : score relatif moyen (décodeur 0 = 100) et temps moyen d'une évaluation.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protocole : instances petites mais variées, plusieurs graines par configuration, un seul bloc qui varie à la fois, score vérifié par un programme indépendant, et un critère simple pour dire si une différence est réelle ou due au hasard.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rtlCol="0"/>
          <a:lstStyle>
            <a:lvl1pPr marL="0" indent="0">
              <a:buNone/>
              <a:defRPr lang="en-US" sz="2600" b="1" dirty="0">
                <a:solidFill>
                  <a:schemeClr val="tx2"/>
                </a:solidFill>
                <a:latin typeface="Cambria" pitchFamily="34" charset="0"/>
                <a:ea typeface="Cambria" pitchFamily="34" charset="-122"/>
                <a:cs typeface="Cambria" pitchFamily="34" charset="-120"/>
              </a:defRPr>
            </a:lvl1pPr>
          </a:lstStyle>
          <a:p>
            <a:pPr marL="0" indent="0">
              <a:buNone/>
            </a:pPr>
            <a:endParaRPr lang="en-US" sz="2600" dirty="0"/>
          </a:p>
        </p:txBody>
      </p:sp>
      <p:sp>
        <p:nvSpPr>
          <p:cNvPr id="3" name="Text 0"/>
          <p:cNvSpPr/>
          <p:nvPr/>
        </p:nvSpPr>
        <p:spPr>
          <a:xfrm>
            <a:off x="457200" y="4828032"/>
            <a:ext cx="6858000" cy="228600"/>
          </a:xfrm>
          <a:prstGeom prst="rect">
            <a:avLst/>
          </a:prstGeom>
          <a:noFill/>
          <a:ln/>
        </p:spPr>
        <p:txBody>
          <a:bodyPr wrap="square" lIns="0" tIns="0" rIns="0" bIns="0" rtlCol="0" anchor="ctr"/>
          <a:lstStyle/>
          <a:p>
            <a:pPr marL="0" indent="0">
              <a:buNone/>
            </a:pPr>
            <a:r>
              <a:rPr lang="en-US" sz="900" dirty="0">
                <a:solidFill>
                  <a:schemeClr val="accent5"/>
                </a:solidFill>
              </a:rPr>
              <a:t>Groupe B — Rihem Ben Jabra — blocs 1 (initialisation) et 5 (décodeur)</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Avant → après : de la matrice aux ordres</a:t>
            </a:r>
            <a:endParaRPr lang="en-US" sz="2600" dirty="0"/>
          </a:p>
        </p:txBody>
      </p:sp>
      <p:graphicFrame>
        <p:nvGraphicFramePr>
          <p:cNvPr id="3" name="comparaison"/>
          <p:cNvGraphicFramePr>
            <a:graphicFrameLocks noGrp="1"/>
          </p:cNvGraphicFramePr>
          <p:nvPr>
            <p:extLst>
              <p:ext uri="{D42A27DB-BD31-4B8C-83A1-F6EECF244321}">
                <p14:modId xmlns:p14="http://schemas.microsoft.com/office/powerpoint/2010/main" val="1450394183"/>
              </p:ext>
            </p:extLst>
          </p:nvPr>
        </p:nvGraphicFramePr>
        <p:xfrm>
          <a:off x="457200" y="960120"/>
          <a:ext cx="5120640" cy="2773680"/>
        </p:xfrm>
        <a:graphic>
          <a:graphicData uri="http://schemas.openxmlformats.org/drawingml/2006/table">
            <a:tbl>
              <a:tblPr/>
              <a:tblGrid>
                <a:gridCol w="1143000"/>
                <a:gridCol w="1920240"/>
                <a:gridCol w="2057400"/>
              </a:tblGrid>
              <a:tr h="384048">
                <a:tc>
                  <a:txBody>
                    <a:bodyPr/>
                    <a:lstStyle/>
                    <a:p>
                      <a:pPr marL="0" indent="0">
                        <a:buNone/>
                      </a:pPr>
                      <a:r>
                        <a:rPr lang="en-US" sz="1300" b="1" dirty="0">
                          <a:solidFill>
                            <a:srgbClr val="14324A"/>
                          </a:solidFill>
                          <a:latin typeface="Calibri" pitchFamily="34" charset="0"/>
                          <a:ea typeface="Calibri" pitchFamily="34" charset="-122"/>
                          <a:cs typeface="Calibri" pitchFamily="34" charset="-120"/>
                        </a:rPr>
                        <a:t>Étape</a:t>
                      </a:r>
                      <a:endParaRPr lang="en-US" sz="13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EEF3F6"/>
                    </a:solidFill>
                  </a:tcPr>
                </a:tc>
                <a:tc>
                  <a:txBody>
                    <a:bodyPr/>
                    <a:lstStyle/>
                    <a:p>
                      <a:pPr marL="0" indent="0">
                        <a:buNone/>
                      </a:pPr>
                      <a:r>
                        <a:rPr lang="en-US" sz="1300" b="1" dirty="0">
                          <a:solidFill>
                            <a:srgbClr val="B5485A"/>
                          </a:solidFill>
                          <a:latin typeface="Calibri" pitchFamily="34" charset="0"/>
                          <a:ea typeface="Calibri" pitchFamily="34" charset="-122"/>
                          <a:cs typeface="Calibri" pitchFamily="34" charset="-120"/>
                        </a:rPr>
                        <a:t>Avant </a:t>
                      </a:r>
                      <a:endParaRPr lang="en-US" sz="13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EEF3F6"/>
                    </a:solidFill>
                  </a:tcPr>
                </a:tc>
                <a:tc>
                  <a:txBody>
                    <a:bodyPr/>
                    <a:lstStyle/>
                    <a:p>
                      <a:pPr marL="0" indent="0">
                        <a:buNone/>
                      </a:pPr>
                      <a:r>
                        <a:rPr lang="en-US" sz="1300" b="1" dirty="0" smtClean="0">
                          <a:solidFill>
                            <a:srgbClr val="FFFFFF"/>
                          </a:solidFill>
                          <a:latin typeface="Calibri" pitchFamily="34" charset="0"/>
                          <a:ea typeface="Calibri" pitchFamily="34" charset="-122"/>
                          <a:cs typeface="Calibri" pitchFamily="34" charset="-120"/>
                        </a:rPr>
                        <a:t>Après</a:t>
                      </a:r>
                      <a:endParaRPr lang="en-US" sz="13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r>
              <a:tr h="384048">
                <a:tc>
                  <a:txBody>
                    <a:bodyPr/>
                    <a:lstStyle/>
                    <a:p>
                      <a:pPr marL="0" indent="0">
                        <a:buNone/>
                      </a:pPr>
                      <a:r>
                        <a:rPr lang="en-US" sz="1100" b="1" dirty="0">
                          <a:solidFill>
                            <a:srgbClr val="14324A"/>
                          </a:solidFill>
                          <a:latin typeface="Calibri" pitchFamily="34" charset="0"/>
                          <a:ea typeface="Calibri" pitchFamily="34" charset="-122"/>
                          <a:cs typeface="Calibri" pitchFamily="34" charset="-120"/>
                        </a:rPr>
                        <a:t>Chromosome</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dirty="0">
                          <a:solidFill>
                            <a:srgbClr val="1B2333"/>
                          </a:solidFill>
                          <a:latin typeface="Calibri" pitchFamily="34" charset="0"/>
                          <a:ea typeface="Calibri" pitchFamily="34" charset="-122"/>
                          <a:cs typeface="Calibri" pitchFamily="34" charset="-120"/>
                        </a:rPr>
                        <a:t>matrice caches × vidéos (booléens)</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b="1" dirty="0">
                          <a:solidFill>
                            <a:srgbClr val="0F7C8C"/>
                          </a:solidFill>
                          <a:latin typeface="Calibri" pitchFamily="34" charset="0"/>
                          <a:ea typeface="Calibri" pitchFamily="34" charset="-122"/>
                          <a:cs typeface="Calibri" pitchFamily="34" charset="-120"/>
                        </a:rPr>
                        <a:t>ordre des vidéos utiles (permutation)</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84048">
                <a:tc>
                  <a:txBody>
                    <a:bodyPr/>
                    <a:lstStyle/>
                    <a:p>
                      <a:pPr marL="0" indent="0">
                        <a:buNone/>
                      </a:pPr>
                      <a:r>
                        <a:rPr lang="en-US" sz="1100" b="1" dirty="0">
                          <a:solidFill>
                            <a:srgbClr val="14324A"/>
                          </a:solidFill>
                          <a:latin typeface="Calibri" pitchFamily="34" charset="0"/>
                          <a:ea typeface="Calibri" pitchFamily="34" charset="-122"/>
                          <a:cs typeface="Calibri" pitchFamily="34" charset="-120"/>
                        </a:rPr>
                        <a:t>Initialisation</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dirty="0">
                          <a:solidFill>
                            <a:srgbClr val="1B2333"/>
                          </a:solidFill>
                          <a:latin typeface="Calibri" pitchFamily="34" charset="0"/>
                          <a:ea typeface="Calibri" pitchFamily="34" charset="-122"/>
                          <a:cs typeface="Calibri" pitchFamily="34" charset="-120"/>
                        </a:rPr>
                        <a:t>aléatoire uniforme (25 %)</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b="1" dirty="0">
                          <a:solidFill>
                            <a:srgbClr val="0F7C8C"/>
                          </a:solidFill>
                          <a:latin typeface="Calibri" pitchFamily="34" charset="0"/>
                          <a:ea typeface="Calibri" pitchFamily="34" charset="-122"/>
                          <a:cs typeface="Calibri" pitchFamily="34" charset="-120"/>
                        </a:rPr>
                        <a:t>ordre par utilité + bruit</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84048">
                <a:tc>
                  <a:txBody>
                    <a:bodyPr/>
                    <a:lstStyle/>
                    <a:p>
                      <a:pPr marL="0" indent="0">
                        <a:buNone/>
                      </a:pPr>
                      <a:r>
                        <a:rPr lang="en-US" sz="1100" b="1" dirty="0">
                          <a:solidFill>
                            <a:srgbClr val="14324A"/>
                          </a:solidFill>
                          <a:latin typeface="Calibri" pitchFamily="34" charset="0"/>
                          <a:ea typeface="Calibri" pitchFamily="34" charset="-122"/>
                          <a:cs typeface="Calibri" pitchFamily="34" charset="-120"/>
                        </a:rPr>
                        <a:t>Évaluation</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dirty="0">
                          <a:solidFill>
                            <a:srgbClr val="1B2333"/>
                          </a:solidFill>
                          <a:latin typeface="Calibri" pitchFamily="34" charset="0"/>
                          <a:ea typeface="Calibri" pitchFamily="34" charset="-122"/>
                          <a:cs typeface="Calibri" pitchFamily="34" charset="-120"/>
                        </a:rPr>
                        <a:t>score de la matrice</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b="1" dirty="0">
                          <a:solidFill>
                            <a:srgbClr val="0F7C8C"/>
                          </a:solidFill>
                          <a:latin typeface="Calibri" pitchFamily="34" charset="0"/>
                          <a:ea typeface="Calibri" pitchFamily="34" charset="-122"/>
                          <a:cs typeface="Calibri" pitchFamily="34" charset="-120"/>
                        </a:rPr>
                        <a:t>glouton décodeur → solution → score</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84048">
                <a:tc>
                  <a:txBody>
                    <a:bodyPr/>
                    <a:lstStyle/>
                    <a:p>
                      <a:pPr marL="0" indent="0">
                        <a:buNone/>
                      </a:pPr>
                      <a:r>
                        <a:rPr lang="en-US" sz="1100" b="1" dirty="0">
                          <a:solidFill>
                            <a:srgbClr val="14324A"/>
                          </a:solidFill>
                          <a:latin typeface="Calibri" pitchFamily="34" charset="0"/>
                          <a:ea typeface="Calibri" pitchFamily="34" charset="-122"/>
                          <a:cs typeface="Calibri" pitchFamily="34" charset="-120"/>
                        </a:rPr>
                        <a:t>Croisement</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dirty="0">
                          <a:solidFill>
                            <a:srgbClr val="1B2333"/>
                          </a:solidFill>
                          <a:latin typeface="Calibri" pitchFamily="34" charset="0"/>
                          <a:ea typeface="Calibri" pitchFamily="34" charset="-122"/>
                          <a:cs typeface="Calibri" pitchFamily="34" charset="-120"/>
                        </a:rPr>
                        <a:t>pile ou face case par case</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b="1" dirty="0">
                          <a:solidFill>
                            <a:srgbClr val="0F7C8C"/>
                          </a:solidFill>
                          <a:latin typeface="Calibri" pitchFamily="34" charset="0"/>
                          <a:ea typeface="Calibri" pitchFamily="34" charset="-122"/>
                          <a:cs typeface="Calibri" pitchFamily="34" charset="-120"/>
                        </a:rPr>
                        <a:t>OX1 (ordre préservé)</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84048">
                <a:tc>
                  <a:txBody>
                    <a:bodyPr/>
                    <a:lstStyle/>
                    <a:p>
                      <a:pPr marL="0" indent="0">
                        <a:buNone/>
                      </a:pPr>
                      <a:r>
                        <a:rPr lang="en-US" sz="1100" b="1" dirty="0">
                          <a:solidFill>
                            <a:srgbClr val="14324A"/>
                          </a:solidFill>
                          <a:latin typeface="Calibri" pitchFamily="34" charset="0"/>
                          <a:ea typeface="Calibri" pitchFamily="34" charset="-122"/>
                          <a:cs typeface="Calibri" pitchFamily="34" charset="-120"/>
                        </a:rPr>
                        <a:t>Mutation</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dirty="0">
                          <a:solidFill>
                            <a:srgbClr val="1B2333"/>
                          </a:solidFill>
                          <a:latin typeface="Calibri" pitchFamily="34" charset="0"/>
                          <a:ea typeface="Calibri" pitchFamily="34" charset="-122"/>
                          <a:cs typeface="Calibri" pitchFamily="34" charset="-120"/>
                        </a:rPr>
                        <a:t>inverser une case</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b="1" dirty="0">
                          <a:solidFill>
                            <a:srgbClr val="0F7C8C"/>
                          </a:solidFill>
                          <a:latin typeface="Calibri" pitchFamily="34" charset="0"/>
                          <a:ea typeface="Calibri" pitchFamily="34" charset="-122"/>
                          <a:cs typeface="Calibri" pitchFamily="34" charset="-120"/>
                        </a:rPr>
                        <a:t>échanger deux vidéos (swap)</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84048">
                <a:tc>
                  <a:txBody>
                    <a:bodyPr/>
                    <a:lstStyle/>
                    <a:p>
                      <a:pPr marL="0" indent="0">
                        <a:buNone/>
                      </a:pPr>
                      <a:r>
                        <a:rPr lang="en-US" sz="1100" b="1" dirty="0">
                          <a:solidFill>
                            <a:srgbClr val="14324A"/>
                          </a:solidFill>
                          <a:latin typeface="Calibri" pitchFamily="34" charset="0"/>
                          <a:ea typeface="Calibri" pitchFamily="34" charset="-122"/>
                          <a:cs typeface="Calibri" pitchFamily="34" charset="-120"/>
                        </a:rPr>
                        <a:t>Contraintes</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dirty="0">
                          <a:solidFill>
                            <a:srgbClr val="1B2333"/>
                          </a:solidFill>
                          <a:latin typeface="Calibri" pitchFamily="34" charset="0"/>
                          <a:ea typeface="Calibri" pitchFamily="34" charset="-122"/>
                          <a:cs typeface="Calibri" pitchFamily="34" charset="-120"/>
                        </a:rPr>
                        <a:t>réparation / cases inutiles</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100" b="1" dirty="0">
                          <a:solidFill>
                            <a:srgbClr val="0F7C8C"/>
                          </a:solidFill>
                          <a:latin typeface="Calibri" pitchFamily="34" charset="0"/>
                          <a:ea typeface="Calibri" pitchFamily="34" charset="-122"/>
                          <a:cs typeface="Calibri" pitchFamily="34" charset="-120"/>
                        </a:rPr>
                        <a:t>respectées par construction</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bl>
          </a:graphicData>
        </a:graphic>
      </p:graphicFrame>
      <p:sp>
        <p:nvSpPr>
          <p:cNvPr id="4" name="flux_0"/>
          <p:cNvSpPr/>
          <p:nvPr/>
        </p:nvSpPr>
        <p:spPr>
          <a:xfrm>
            <a:off x="5989320" y="1005840"/>
            <a:ext cx="2697480" cy="530352"/>
          </a:xfrm>
          <a:prstGeom prst="roundRect">
            <a:avLst>
              <a:gd name="adj" fmla="val 13793"/>
            </a:avLst>
          </a:prstGeom>
          <a:solidFill>
            <a:srgbClr val="EEF3F6"/>
          </a:solidFill>
          <a:ln w="12700">
            <a:solidFill>
              <a:srgbClr val="EEF3F6"/>
            </a:solidFill>
            <a:prstDash val="solid"/>
          </a:ln>
        </p:spPr>
      </p:sp>
      <p:sp>
        <p:nvSpPr>
          <p:cNvPr id="5" name="Text 2"/>
          <p:cNvSpPr txBox="1"/>
          <p:nvPr/>
        </p:nvSpPr>
        <p:spPr>
          <a:xfrm>
            <a:off x="6126480" y="1051560"/>
            <a:ext cx="2468880" cy="457200"/>
          </a:xfrm>
          <a:prstGeom prst="rect">
            <a:avLst/>
          </a:prstGeom>
          <a:noFill/>
          <a:ln/>
        </p:spPr>
        <p:txBody>
          <a:bodyPr wrap="square" lIns="0" tIns="0" rIns="0" bIns="0" rtlCol="0" anchor="t"/>
          <a:lstStyle/>
          <a:p>
            <a:pPr marL="0" indent="0">
              <a:buNone/>
            </a:pPr>
            <a:r>
              <a:rPr lang="en-US" sz="1300" b="1" dirty="0">
                <a:solidFill>
                  <a:srgbClr val="14324A"/>
                </a:solidFill>
              </a:rPr>
              <a:t>GA</a:t>
            </a:r>
            <a:endParaRPr lang="en-US" sz="1300" dirty="0"/>
          </a:p>
          <a:p>
            <a:pPr marL="0" indent="0">
              <a:buNone/>
            </a:pPr>
            <a:r>
              <a:rPr lang="en-US" sz="1100" dirty="0">
                <a:solidFill>
                  <a:srgbClr val="6B7A8F"/>
                </a:solidFill>
              </a:rPr>
              <a:t>fait évoluer des ordres</a:t>
            </a:r>
            <a:endParaRPr lang="en-US" sz="1300" dirty="0"/>
          </a:p>
        </p:txBody>
      </p:sp>
      <p:sp>
        <p:nvSpPr>
          <p:cNvPr id="6" name="Shape 3"/>
          <p:cNvSpPr/>
          <p:nvPr/>
        </p:nvSpPr>
        <p:spPr>
          <a:xfrm>
            <a:off x="7223760" y="1554480"/>
            <a:ext cx="201168" cy="118872"/>
          </a:xfrm>
          <a:prstGeom prst="downArrow">
            <a:avLst/>
          </a:prstGeom>
          <a:solidFill>
            <a:srgbClr val="8DB8C2"/>
          </a:solidFill>
          <a:ln w="12700">
            <a:solidFill>
              <a:srgbClr val="8DB8C2"/>
            </a:solidFill>
            <a:prstDash val="solid"/>
          </a:ln>
        </p:spPr>
      </p:sp>
      <p:sp>
        <p:nvSpPr>
          <p:cNvPr id="7" name="flux_1"/>
          <p:cNvSpPr/>
          <p:nvPr/>
        </p:nvSpPr>
        <p:spPr>
          <a:xfrm>
            <a:off x="5989320" y="1691640"/>
            <a:ext cx="2697480" cy="530352"/>
          </a:xfrm>
          <a:prstGeom prst="roundRect">
            <a:avLst>
              <a:gd name="adj" fmla="val 13793"/>
            </a:avLst>
          </a:prstGeom>
          <a:solidFill>
            <a:srgbClr val="EEF3F6"/>
          </a:solidFill>
          <a:ln w="12700">
            <a:solidFill>
              <a:srgbClr val="EEF3F6"/>
            </a:solidFill>
            <a:prstDash val="solid"/>
          </a:ln>
        </p:spPr>
      </p:sp>
      <p:sp>
        <p:nvSpPr>
          <p:cNvPr id="8" name="Text 5"/>
          <p:cNvSpPr txBox="1"/>
          <p:nvPr/>
        </p:nvSpPr>
        <p:spPr>
          <a:xfrm>
            <a:off x="6126480" y="1737360"/>
            <a:ext cx="2468880" cy="457200"/>
          </a:xfrm>
          <a:prstGeom prst="rect">
            <a:avLst/>
          </a:prstGeom>
          <a:noFill/>
          <a:ln/>
        </p:spPr>
        <p:txBody>
          <a:bodyPr wrap="square" lIns="0" tIns="0" rIns="0" bIns="0" rtlCol="0" anchor="t"/>
          <a:lstStyle/>
          <a:p>
            <a:pPr marL="0" indent="0">
              <a:buNone/>
            </a:pPr>
            <a:r>
              <a:rPr lang="en-US" sz="1300" b="1" dirty="0">
                <a:solidFill>
                  <a:srgbClr val="14324A"/>
                </a:solidFill>
              </a:rPr>
              <a:t>Ordre</a:t>
            </a:r>
            <a:endParaRPr lang="en-US" sz="1300" dirty="0"/>
          </a:p>
          <a:p>
            <a:pPr marL="0" indent="0">
              <a:buNone/>
            </a:pPr>
            <a:r>
              <a:rPr lang="en-US" sz="1100" dirty="0">
                <a:solidFill>
                  <a:srgbClr val="6B7A8F"/>
                </a:solidFill>
              </a:rPr>
              <a:t>v12, v3, v40, …</a:t>
            </a:r>
            <a:endParaRPr lang="en-US" sz="1300" dirty="0"/>
          </a:p>
        </p:txBody>
      </p:sp>
      <p:sp>
        <p:nvSpPr>
          <p:cNvPr id="9" name="Shape 6"/>
          <p:cNvSpPr/>
          <p:nvPr/>
        </p:nvSpPr>
        <p:spPr>
          <a:xfrm>
            <a:off x="7223760" y="2240280"/>
            <a:ext cx="201168" cy="118872"/>
          </a:xfrm>
          <a:prstGeom prst="downArrow">
            <a:avLst/>
          </a:prstGeom>
          <a:solidFill>
            <a:srgbClr val="8DB8C2"/>
          </a:solidFill>
          <a:ln w="12700">
            <a:solidFill>
              <a:srgbClr val="8DB8C2"/>
            </a:solidFill>
            <a:prstDash val="solid"/>
          </a:ln>
        </p:spPr>
      </p:sp>
      <p:sp>
        <p:nvSpPr>
          <p:cNvPr id="10" name="flux_2"/>
          <p:cNvSpPr/>
          <p:nvPr/>
        </p:nvSpPr>
        <p:spPr>
          <a:xfrm>
            <a:off x="5989320" y="2377440"/>
            <a:ext cx="2697480" cy="530352"/>
          </a:xfrm>
          <a:prstGeom prst="roundRect">
            <a:avLst>
              <a:gd name="adj" fmla="val 13793"/>
            </a:avLst>
          </a:prstGeom>
          <a:solidFill>
            <a:srgbClr val="0F7C8C"/>
          </a:solidFill>
          <a:ln w="12700">
            <a:solidFill>
              <a:srgbClr val="0F7C8C"/>
            </a:solidFill>
            <a:prstDash val="solid"/>
          </a:ln>
        </p:spPr>
      </p:sp>
      <p:sp>
        <p:nvSpPr>
          <p:cNvPr id="11" name="Text 8"/>
          <p:cNvSpPr txBox="1"/>
          <p:nvPr/>
        </p:nvSpPr>
        <p:spPr>
          <a:xfrm>
            <a:off x="6126480" y="2423160"/>
            <a:ext cx="2468880" cy="457200"/>
          </a:xfrm>
          <a:prstGeom prst="rect">
            <a:avLst/>
          </a:prstGeom>
          <a:noFill/>
          <a:ln/>
        </p:spPr>
        <p:txBody>
          <a:bodyPr wrap="square" lIns="0" tIns="0" rIns="0" bIns="0" rtlCol="0" anchor="t"/>
          <a:lstStyle/>
          <a:p>
            <a:pPr marL="0" indent="0">
              <a:buNone/>
            </a:pPr>
            <a:r>
              <a:rPr lang="en-US" sz="1300" b="1" dirty="0">
                <a:solidFill>
                  <a:srgbClr val="FFFFFF"/>
                </a:solidFill>
              </a:rPr>
              <a:t>Glouton</a:t>
            </a:r>
            <a:endParaRPr lang="en-US" sz="1300" dirty="0"/>
          </a:p>
          <a:p>
            <a:pPr marL="0" indent="0">
              <a:buNone/>
            </a:pPr>
            <a:r>
              <a:rPr lang="en-US" sz="1100" dirty="0">
                <a:solidFill>
                  <a:srgbClr val="FFFFFF"/>
                </a:solidFill>
              </a:rPr>
              <a:t>remplit les caches par tours</a:t>
            </a:r>
            <a:endParaRPr lang="en-US" sz="1300" dirty="0"/>
          </a:p>
        </p:txBody>
      </p:sp>
      <p:sp>
        <p:nvSpPr>
          <p:cNvPr id="12" name="Shape 9"/>
          <p:cNvSpPr/>
          <p:nvPr/>
        </p:nvSpPr>
        <p:spPr>
          <a:xfrm>
            <a:off x="7223760" y="2926080"/>
            <a:ext cx="201168" cy="118872"/>
          </a:xfrm>
          <a:prstGeom prst="downArrow">
            <a:avLst/>
          </a:prstGeom>
          <a:solidFill>
            <a:srgbClr val="8DB8C2"/>
          </a:solidFill>
          <a:ln w="12700">
            <a:solidFill>
              <a:srgbClr val="8DB8C2"/>
            </a:solidFill>
            <a:prstDash val="solid"/>
          </a:ln>
        </p:spPr>
      </p:sp>
      <p:sp>
        <p:nvSpPr>
          <p:cNvPr id="13" name="flux_3"/>
          <p:cNvSpPr/>
          <p:nvPr/>
        </p:nvSpPr>
        <p:spPr>
          <a:xfrm>
            <a:off x="5989320" y="3063240"/>
            <a:ext cx="2697480" cy="530352"/>
          </a:xfrm>
          <a:prstGeom prst="roundRect">
            <a:avLst>
              <a:gd name="adj" fmla="val 13793"/>
            </a:avLst>
          </a:prstGeom>
          <a:solidFill>
            <a:srgbClr val="EEF3F6"/>
          </a:solidFill>
          <a:ln w="12700">
            <a:solidFill>
              <a:srgbClr val="EEF3F6"/>
            </a:solidFill>
            <a:prstDash val="solid"/>
          </a:ln>
        </p:spPr>
      </p:sp>
      <p:sp>
        <p:nvSpPr>
          <p:cNvPr id="14" name="Text 11"/>
          <p:cNvSpPr txBox="1"/>
          <p:nvPr/>
        </p:nvSpPr>
        <p:spPr>
          <a:xfrm>
            <a:off x="6126480" y="3108960"/>
            <a:ext cx="2468880" cy="457200"/>
          </a:xfrm>
          <a:prstGeom prst="rect">
            <a:avLst/>
          </a:prstGeom>
          <a:noFill/>
          <a:ln/>
        </p:spPr>
        <p:txBody>
          <a:bodyPr wrap="square" lIns="0" tIns="0" rIns="0" bIns="0" rtlCol="0" anchor="t"/>
          <a:lstStyle/>
          <a:p>
            <a:pPr marL="0" indent="0">
              <a:buNone/>
            </a:pPr>
            <a:r>
              <a:rPr lang="en-US" sz="1300" b="1" dirty="0">
                <a:solidFill>
                  <a:srgbClr val="14324A"/>
                </a:solidFill>
              </a:rPr>
              <a:t>Solution</a:t>
            </a:r>
            <a:endParaRPr lang="en-US" sz="1300" dirty="0"/>
          </a:p>
          <a:p>
            <a:pPr marL="0" indent="0">
              <a:buNone/>
            </a:pPr>
            <a:r>
              <a:rPr lang="en-US" sz="1100" dirty="0">
                <a:solidFill>
                  <a:srgbClr val="6B7A8F"/>
                </a:solidFill>
              </a:rPr>
              <a:t>≤ X Mo par cache</a:t>
            </a:r>
            <a:endParaRPr lang="en-US" sz="1300" dirty="0"/>
          </a:p>
        </p:txBody>
      </p:sp>
      <p:sp>
        <p:nvSpPr>
          <p:cNvPr id="15" name="Shape 12"/>
          <p:cNvSpPr/>
          <p:nvPr/>
        </p:nvSpPr>
        <p:spPr>
          <a:xfrm>
            <a:off x="7223760" y="3611880"/>
            <a:ext cx="201168" cy="118872"/>
          </a:xfrm>
          <a:prstGeom prst="downArrow">
            <a:avLst/>
          </a:prstGeom>
          <a:solidFill>
            <a:srgbClr val="8DB8C2"/>
          </a:solidFill>
          <a:ln w="12700">
            <a:solidFill>
              <a:srgbClr val="8DB8C2"/>
            </a:solidFill>
            <a:prstDash val="solid"/>
          </a:ln>
        </p:spPr>
      </p:sp>
      <p:sp>
        <p:nvSpPr>
          <p:cNvPr id="16" name="flux_4"/>
          <p:cNvSpPr/>
          <p:nvPr/>
        </p:nvSpPr>
        <p:spPr>
          <a:xfrm>
            <a:off x="5989320" y="3749040"/>
            <a:ext cx="2697480" cy="530352"/>
          </a:xfrm>
          <a:prstGeom prst="roundRect">
            <a:avLst>
              <a:gd name="adj" fmla="val 13793"/>
            </a:avLst>
          </a:prstGeom>
          <a:solidFill>
            <a:srgbClr val="EEF3F6"/>
          </a:solidFill>
          <a:ln w="12700">
            <a:solidFill>
              <a:srgbClr val="EEF3F6"/>
            </a:solidFill>
            <a:prstDash val="solid"/>
          </a:ln>
        </p:spPr>
      </p:sp>
      <p:sp>
        <p:nvSpPr>
          <p:cNvPr id="17" name="Text 14"/>
          <p:cNvSpPr txBox="1"/>
          <p:nvPr/>
        </p:nvSpPr>
        <p:spPr>
          <a:xfrm>
            <a:off x="6126480" y="3794760"/>
            <a:ext cx="2468880" cy="457200"/>
          </a:xfrm>
          <a:prstGeom prst="rect">
            <a:avLst/>
          </a:prstGeom>
          <a:noFill/>
          <a:ln/>
        </p:spPr>
        <p:txBody>
          <a:bodyPr wrap="square" lIns="0" tIns="0" rIns="0" bIns="0" rtlCol="0" anchor="t"/>
          <a:lstStyle/>
          <a:p>
            <a:pPr marL="0" indent="0">
              <a:buNone/>
            </a:pPr>
            <a:r>
              <a:rPr lang="en-US" sz="1300" b="1" dirty="0">
                <a:solidFill>
                  <a:srgbClr val="14324A"/>
                </a:solidFill>
              </a:rPr>
              <a:t>Score</a:t>
            </a:r>
            <a:endParaRPr lang="en-US" sz="1300" dirty="0"/>
          </a:p>
          <a:p>
            <a:pPr marL="0" indent="0">
              <a:buNone/>
            </a:pPr>
            <a:r>
              <a:rPr lang="en-US" sz="1100" dirty="0">
                <a:solidFill>
                  <a:srgbClr val="6B7A8F"/>
                </a:solidFill>
              </a:rPr>
              <a:t>temps gagné × 1000 / requêtes</a:t>
            </a:r>
            <a:endParaRPr lang="en-US" sz="1300" dirty="0"/>
          </a:p>
        </p:txBody>
      </p:sp>
      <p:sp>
        <p:nvSpPr>
          <p:cNvPr id="18" name="Text 15"/>
          <p:cNvSpPr txBox="1"/>
          <p:nvPr/>
        </p:nvSpPr>
        <p:spPr>
          <a:xfrm>
            <a:off x="457200" y="4224528"/>
            <a:ext cx="5120640" cy="502920"/>
          </a:xfrm>
          <a:prstGeom prst="rect">
            <a:avLst/>
          </a:prstGeom>
          <a:noFill/>
          <a:ln/>
        </p:spPr>
        <p:txBody>
          <a:bodyPr wrap="square" lIns="0" tIns="0" rIns="0" bIns="0" rtlCol="0" anchor="t"/>
          <a:lstStyle/>
          <a:p>
            <a:pPr marL="0" indent="0">
              <a:buNone/>
            </a:pPr>
            <a:r>
              <a:rPr lang="en-US" sz="1100" i="1" dirty="0">
                <a:solidFill>
                  <a:schemeClr val="accent4"/>
                </a:solidFill>
              </a:rPr>
              <a:t>Limites de l'ancien GA : 500 × 10 000 cases sur kittens, caches remplis de vidéos inutiles, stagnation vers la génération 12.</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Mon apport : le glouton fait le grand saut</a:t>
            </a:r>
            <a:endParaRPr lang="en-US" sz="2600" dirty="0"/>
          </a:p>
        </p:txBody>
      </p:sp>
      <p:sp>
        <p:nvSpPr>
          <p:cNvPr id="3" name="Shape 1"/>
          <p:cNvSpPr/>
          <p:nvPr/>
        </p:nvSpPr>
        <p:spPr>
          <a:xfrm>
            <a:off x="457200" y="1078992"/>
            <a:ext cx="384048" cy="384048"/>
          </a:xfrm>
          <a:prstGeom prst="ellipse">
            <a:avLst/>
          </a:prstGeom>
          <a:solidFill>
            <a:srgbClr val="0F7C8C"/>
          </a:solidFill>
          <a:ln w="12700">
            <a:solidFill>
              <a:srgbClr val="0F7C8C"/>
            </a:solidFill>
            <a:prstDash val="solid"/>
          </a:ln>
        </p:spPr>
      </p:sp>
      <p:sp>
        <p:nvSpPr>
          <p:cNvPr id="4" name="Text 2"/>
          <p:cNvSpPr txBox="1"/>
          <p:nvPr/>
        </p:nvSpPr>
        <p:spPr>
          <a:xfrm>
            <a:off x="457200" y="107899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Text 3"/>
          <p:cNvSpPr txBox="1"/>
          <p:nvPr/>
        </p:nvSpPr>
        <p:spPr>
          <a:xfrm>
            <a:off x="1005840" y="1005840"/>
            <a:ext cx="3108960" cy="685800"/>
          </a:xfrm>
          <a:prstGeom prst="rect">
            <a:avLst/>
          </a:prstGeom>
          <a:noFill/>
          <a:ln/>
        </p:spPr>
        <p:txBody>
          <a:bodyPr wrap="square" lIns="0" tIns="0" rIns="0" bIns="0" rtlCol="0" anchor="t"/>
          <a:lstStyle/>
          <a:p>
            <a:pPr marL="0" indent="0">
              <a:buNone/>
            </a:pPr>
            <a:r>
              <a:rPr lang="en-US" sz="1400" b="1" dirty="0">
                <a:solidFill>
                  <a:srgbClr val="14324A"/>
                </a:solidFill>
              </a:rPr>
              <a:t>Utilité</a:t>
            </a:r>
            <a:endParaRPr lang="en-US" sz="1400" dirty="0"/>
          </a:p>
          <a:p>
            <a:pPr marL="0" indent="0">
              <a:buNone/>
            </a:pPr>
            <a:r>
              <a:rPr lang="en-US" sz="1200" dirty="0">
                <a:solidFill>
                  <a:srgbClr val="6B7A8F"/>
                </a:solidFill>
              </a:rPr>
              <a:t>temps gagnable ÷ taille ; vidéos inutiles écartées</a:t>
            </a:r>
            <a:endParaRPr lang="en-US" sz="1400" dirty="0"/>
          </a:p>
        </p:txBody>
      </p:sp>
      <p:sp>
        <p:nvSpPr>
          <p:cNvPr id="6" name="Shape 4"/>
          <p:cNvSpPr/>
          <p:nvPr/>
        </p:nvSpPr>
        <p:spPr>
          <a:xfrm>
            <a:off x="457200" y="1856232"/>
            <a:ext cx="384048" cy="384048"/>
          </a:xfrm>
          <a:prstGeom prst="ellipse">
            <a:avLst/>
          </a:prstGeom>
          <a:solidFill>
            <a:srgbClr val="0F7C8C"/>
          </a:solidFill>
          <a:ln w="12700">
            <a:solidFill>
              <a:srgbClr val="0F7C8C"/>
            </a:solidFill>
            <a:prstDash val="solid"/>
          </a:ln>
        </p:spPr>
      </p:sp>
      <p:sp>
        <p:nvSpPr>
          <p:cNvPr id="7" name="Text 5"/>
          <p:cNvSpPr txBox="1"/>
          <p:nvPr/>
        </p:nvSpPr>
        <p:spPr>
          <a:xfrm>
            <a:off x="457200" y="185623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8" name="Text 6"/>
          <p:cNvSpPr txBox="1"/>
          <p:nvPr/>
        </p:nvSpPr>
        <p:spPr>
          <a:xfrm>
            <a:off x="1005840" y="1783080"/>
            <a:ext cx="3108960" cy="685800"/>
          </a:xfrm>
          <a:prstGeom prst="rect">
            <a:avLst/>
          </a:prstGeom>
          <a:noFill/>
          <a:ln/>
        </p:spPr>
        <p:txBody>
          <a:bodyPr wrap="square" lIns="0" tIns="0" rIns="0" bIns="0" rtlCol="0" anchor="t"/>
          <a:lstStyle/>
          <a:p>
            <a:pPr marL="0" indent="0">
              <a:buNone/>
            </a:pPr>
            <a:r>
              <a:rPr lang="en-US" sz="1400" b="1" dirty="0">
                <a:solidFill>
                  <a:srgbClr val="14324A"/>
                </a:solidFill>
              </a:rPr>
              <a:t>Remplissage par tours</a:t>
            </a:r>
            <a:endParaRPr lang="en-US" sz="1400" dirty="0"/>
          </a:p>
          <a:p>
            <a:pPr marL="0" indent="0">
              <a:buNone/>
            </a:pPr>
            <a:r>
              <a:rPr lang="en-US" sz="1200" dirty="0">
                <a:solidFill>
                  <a:srgbClr val="6B7A8F"/>
                </a:solidFill>
              </a:rPr>
              <a:t>chaque vidéo dans son meilleur cache, les copies ensuite</a:t>
            </a:r>
            <a:endParaRPr lang="en-US" sz="1400" dirty="0"/>
          </a:p>
        </p:txBody>
      </p:sp>
      <p:sp>
        <p:nvSpPr>
          <p:cNvPr id="9" name="Shape 7"/>
          <p:cNvSpPr/>
          <p:nvPr/>
        </p:nvSpPr>
        <p:spPr>
          <a:xfrm>
            <a:off x="457200" y="2633472"/>
            <a:ext cx="384048" cy="384048"/>
          </a:xfrm>
          <a:prstGeom prst="ellipse">
            <a:avLst/>
          </a:prstGeom>
          <a:solidFill>
            <a:srgbClr val="0F7C8C"/>
          </a:solidFill>
          <a:ln w="12700">
            <a:solidFill>
              <a:srgbClr val="0F7C8C"/>
            </a:solidFill>
            <a:prstDash val="solid"/>
          </a:ln>
        </p:spPr>
      </p:sp>
      <p:sp>
        <p:nvSpPr>
          <p:cNvPr id="10" name="Text 8"/>
          <p:cNvSpPr txBox="1"/>
          <p:nvPr/>
        </p:nvSpPr>
        <p:spPr>
          <a:xfrm>
            <a:off x="457200" y="263347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Text 9"/>
          <p:cNvSpPr txBox="1"/>
          <p:nvPr/>
        </p:nvSpPr>
        <p:spPr>
          <a:xfrm>
            <a:off x="1005840" y="2560320"/>
            <a:ext cx="3108960" cy="685800"/>
          </a:xfrm>
          <a:prstGeom prst="rect">
            <a:avLst/>
          </a:prstGeom>
          <a:noFill/>
          <a:ln/>
        </p:spPr>
        <p:txBody>
          <a:bodyPr wrap="square" lIns="0" tIns="0" rIns="0" bIns="0" rtlCol="0" anchor="t"/>
          <a:lstStyle/>
          <a:p>
            <a:pPr marL="0" indent="0">
              <a:buNone/>
            </a:pPr>
            <a:r>
              <a:rPr lang="en-US" sz="1400" b="1" dirty="0">
                <a:solidFill>
                  <a:srgbClr val="14324A"/>
                </a:solidFill>
              </a:rPr>
              <a:t>GA par permutation</a:t>
            </a:r>
            <a:endParaRPr lang="en-US" sz="1400" dirty="0"/>
          </a:p>
          <a:p>
            <a:pPr marL="0" indent="0">
              <a:buNone/>
            </a:pPr>
            <a:r>
              <a:rPr lang="en-US" sz="1200" dirty="0">
                <a:solidFill>
                  <a:srgbClr val="6B7A8F"/>
                </a:solidFill>
              </a:rPr>
              <a:t>ordre des vidéos décodé par le glouton (baseline n° 0)</a:t>
            </a:r>
            <a:endParaRPr lang="en-US" sz="1400" dirty="0"/>
          </a:p>
        </p:txBody>
      </p:sp>
      <p:sp>
        <p:nvSpPr>
          <p:cNvPr id="12" name="Shape 10"/>
          <p:cNvSpPr/>
          <p:nvPr/>
        </p:nvSpPr>
        <p:spPr>
          <a:xfrm>
            <a:off x="457200" y="3410712"/>
            <a:ext cx="384048" cy="384048"/>
          </a:xfrm>
          <a:prstGeom prst="ellipse">
            <a:avLst/>
          </a:prstGeom>
          <a:solidFill>
            <a:srgbClr val="0F7C8C"/>
          </a:solidFill>
          <a:ln w="12700">
            <a:solidFill>
              <a:srgbClr val="0F7C8C"/>
            </a:solidFill>
            <a:prstDash val="solid"/>
          </a:ln>
        </p:spPr>
      </p:sp>
      <p:sp>
        <p:nvSpPr>
          <p:cNvPr id="13" name="Text 11"/>
          <p:cNvSpPr txBox="1"/>
          <p:nvPr/>
        </p:nvSpPr>
        <p:spPr>
          <a:xfrm>
            <a:off x="457200" y="341071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4" name="Text 12"/>
          <p:cNvSpPr txBox="1"/>
          <p:nvPr/>
        </p:nvSpPr>
        <p:spPr>
          <a:xfrm>
            <a:off x="1005840" y="3337560"/>
            <a:ext cx="3108960" cy="685800"/>
          </a:xfrm>
          <a:prstGeom prst="rect">
            <a:avLst/>
          </a:prstGeom>
          <a:noFill/>
          <a:ln/>
        </p:spPr>
        <p:txBody>
          <a:bodyPr wrap="square" lIns="0" tIns="0" rIns="0" bIns="0" rtlCol="0" anchor="t"/>
          <a:lstStyle/>
          <a:p>
            <a:pPr marL="0" indent="0">
              <a:buNone/>
            </a:pPr>
            <a:r>
              <a:rPr lang="en-US" sz="1400" b="1" dirty="0">
                <a:solidFill>
                  <a:srgbClr val="14324A"/>
                </a:solidFill>
              </a:rPr>
              <a:t>Correction +=</a:t>
            </a:r>
            <a:endParaRPr lang="en-US" sz="1400" dirty="0"/>
          </a:p>
          <a:p>
            <a:pPr marL="0" indent="0">
              <a:buNone/>
            </a:pPr>
            <a:r>
              <a:rPr lang="en-US" sz="1200" dirty="0">
                <a:solidFill>
                  <a:srgbClr val="6B7A8F"/>
                </a:solidFill>
              </a:rPr>
              <a:t>requêtes en double additionnées ; vérificateur score.py</a:t>
            </a:r>
            <a:endParaRPr lang="en-US" sz="1400" dirty="0"/>
          </a:p>
        </p:txBody>
      </p:sp>
      <p:graphicFrame>
        <p:nvGraphicFramePr>
          <p:cNvPr id="15" name="evolution"/>
          <p:cNvGraphicFramePr/>
          <p:nvPr/>
        </p:nvGraphicFramePr>
        <p:xfrm>
          <a:off x="4343400" y="914400"/>
          <a:ext cx="4343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txBox="1"/>
          <p:nvPr/>
        </p:nvSpPr>
        <p:spPr>
          <a:xfrm>
            <a:off x="4343400" y="4297680"/>
            <a:ext cx="4343400" cy="365760"/>
          </a:xfrm>
          <a:prstGeom prst="rect">
            <a:avLst/>
          </a:prstGeom>
          <a:noFill/>
          <a:ln/>
        </p:spPr>
        <p:txBody>
          <a:bodyPr wrap="square" lIns="0" tIns="0" rIns="0" bIns="0" rtlCol="0" anchor="t"/>
          <a:lstStyle/>
          <a:p>
            <a:pPr marL="0" indent="0">
              <a:buNone/>
            </a:pPr>
            <a:r>
              <a:rPr lang="en-US" sz="1100" i="1" dirty="0">
                <a:solidFill>
                  <a:schemeClr val="accent5"/>
                </a:solidFill>
              </a:rPr>
              <a:t>instance1 : 41,6 % → 95,5 % ; me_at_the_zoo : 55,4 % → 97,5 %</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Bloc 1 : partir de l'utilité est indispensable</a:t>
            </a:r>
            <a:endParaRPr lang="en-US" sz="2600" dirty="0"/>
          </a:p>
        </p:txBody>
      </p:sp>
      <p:graphicFrame>
        <p:nvGraphicFramePr>
          <p:cNvPr id="3" name="init_depart_final"/>
          <p:cNvGraphicFramePr/>
          <p:nvPr/>
        </p:nvGraphicFramePr>
        <p:xfrm>
          <a:off x="457200" y="914400"/>
          <a:ext cx="53949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tat_hasard"/>
          <p:cNvSpPr/>
          <p:nvPr/>
        </p:nvSpPr>
        <p:spPr>
          <a:xfrm>
            <a:off x="6126480" y="914400"/>
            <a:ext cx="2560320" cy="960120"/>
          </a:xfrm>
          <a:prstGeom prst="roundRect">
            <a:avLst>
              <a:gd name="adj" fmla="val 7619"/>
            </a:avLst>
          </a:prstGeom>
          <a:solidFill>
            <a:srgbClr val="EEF3F6"/>
          </a:solidFill>
          <a:ln w="12700">
            <a:solidFill>
              <a:srgbClr val="EEF3F6"/>
            </a:solidFill>
            <a:prstDash val="solid"/>
          </a:ln>
        </p:spPr>
      </p:sp>
      <p:sp>
        <p:nvSpPr>
          <p:cNvPr id="5" name="Text 2"/>
          <p:cNvSpPr txBox="1"/>
          <p:nvPr/>
        </p:nvSpPr>
        <p:spPr>
          <a:xfrm>
            <a:off x="6263640" y="987552"/>
            <a:ext cx="2286000" cy="457200"/>
          </a:xfrm>
          <a:prstGeom prst="rect">
            <a:avLst/>
          </a:prstGeom>
          <a:noFill/>
          <a:ln/>
        </p:spPr>
        <p:txBody>
          <a:bodyPr wrap="square" lIns="0" tIns="0" rIns="0" bIns="0" rtlCol="0" anchor="t"/>
          <a:lstStyle/>
          <a:p>
            <a:pPr marL="0" indent="0">
              <a:buNone/>
            </a:pPr>
            <a:r>
              <a:rPr lang="en-US" sz="2600" b="1" dirty="0">
                <a:solidFill>
                  <a:schemeClr val="accent4"/>
                </a:solidFill>
                <a:latin typeface="Cambria" pitchFamily="34" charset="0"/>
                <a:ea typeface="Cambria" pitchFamily="34" charset="-122"/>
                <a:cs typeface="Cambria" pitchFamily="34" charset="-120"/>
              </a:rPr>
              <a:t>67,5</a:t>
            </a:r>
            <a:endParaRPr lang="en-US" sz="2600" dirty="0"/>
          </a:p>
        </p:txBody>
      </p:sp>
      <p:sp>
        <p:nvSpPr>
          <p:cNvPr id="6" name="Text 3"/>
          <p:cNvSpPr txBox="1"/>
          <p:nvPr/>
        </p:nvSpPr>
        <p:spPr>
          <a:xfrm>
            <a:off x="6263640" y="1444752"/>
            <a:ext cx="2286000" cy="384048"/>
          </a:xfrm>
          <a:prstGeom prst="rect">
            <a:avLst/>
          </a:prstGeom>
          <a:noFill/>
          <a:ln/>
        </p:spPr>
        <p:txBody>
          <a:bodyPr wrap="square" lIns="0" tIns="0" rIns="0" bIns="0" rtlCol="0" anchor="t"/>
          <a:lstStyle/>
          <a:p>
            <a:pPr marL="0" indent="0">
              <a:buNone/>
            </a:pPr>
            <a:r>
              <a:rPr lang="en-US" sz="1100" dirty="0">
                <a:solidFill>
                  <a:schemeClr val="tx2"/>
                </a:solidFill>
              </a:rPr>
              <a:t>score final du hasard pur (base = 100) ; pire instance : 23,1</a:t>
            </a:r>
            <a:endParaRPr lang="en-US" sz="1100" dirty="0"/>
          </a:p>
        </p:txBody>
      </p:sp>
      <p:sp>
        <p:nvSpPr>
          <p:cNvPr id="7" name="stat_gain"/>
          <p:cNvSpPr/>
          <p:nvPr/>
        </p:nvSpPr>
        <p:spPr>
          <a:xfrm>
            <a:off x="6126480" y="2011680"/>
            <a:ext cx="2560320" cy="960120"/>
          </a:xfrm>
          <a:prstGeom prst="roundRect">
            <a:avLst>
              <a:gd name="adj" fmla="val 7619"/>
            </a:avLst>
          </a:prstGeom>
          <a:solidFill>
            <a:srgbClr val="EEF3F6"/>
          </a:solidFill>
          <a:ln w="12700">
            <a:solidFill>
              <a:srgbClr val="EEF3F6"/>
            </a:solidFill>
            <a:prstDash val="solid"/>
          </a:ln>
        </p:spPr>
      </p:sp>
      <p:sp>
        <p:nvSpPr>
          <p:cNvPr id="8" name="Text 5"/>
          <p:cNvSpPr txBox="1"/>
          <p:nvPr/>
        </p:nvSpPr>
        <p:spPr>
          <a:xfrm>
            <a:off x="6263640" y="2084832"/>
            <a:ext cx="2286000" cy="457200"/>
          </a:xfrm>
          <a:prstGeom prst="rect">
            <a:avLst/>
          </a:prstGeom>
          <a:noFill/>
          <a:ln/>
        </p:spPr>
        <p:txBody>
          <a:bodyPr wrap="square" lIns="0" tIns="0" rIns="0" bIns="0" rtlCol="0" anchor="t"/>
          <a:lstStyle/>
          <a:p>
            <a:pPr marL="0" indent="0">
              <a:buNone/>
            </a:pPr>
            <a:r>
              <a:rPr lang="en-US" sz="2600" b="1" dirty="0">
                <a:solidFill>
                  <a:schemeClr val="accent1"/>
                </a:solidFill>
                <a:latin typeface="Cambria" pitchFamily="34" charset="0"/>
                <a:ea typeface="Cambria" pitchFamily="34" charset="-122"/>
                <a:cs typeface="Cambria" pitchFamily="34" charset="-120"/>
              </a:rPr>
              <a:t>+0,35 %</a:t>
            </a:r>
            <a:endParaRPr lang="en-US" sz="2600" dirty="0"/>
          </a:p>
        </p:txBody>
      </p:sp>
      <p:sp>
        <p:nvSpPr>
          <p:cNvPr id="9" name="Text 6"/>
          <p:cNvSpPr txBox="1"/>
          <p:nvPr/>
        </p:nvSpPr>
        <p:spPr>
          <a:xfrm>
            <a:off x="6263640" y="2542032"/>
            <a:ext cx="2286000" cy="384048"/>
          </a:xfrm>
          <a:prstGeom prst="rect">
            <a:avLst/>
          </a:prstGeom>
          <a:noFill/>
          <a:ln/>
        </p:spPr>
        <p:txBody>
          <a:bodyPr wrap="square" lIns="0" tIns="0" rIns="0" bIns="0" rtlCol="0" anchor="t"/>
          <a:lstStyle/>
          <a:p>
            <a:pPr marL="0" indent="0">
              <a:buNone/>
            </a:pPr>
            <a:r>
              <a:rPr lang="en-US" sz="1100" dirty="0">
                <a:solidFill>
                  <a:schemeClr val="tx2"/>
                </a:solidFill>
              </a:rPr>
              <a:t>gain du GA entre le meilleur initial et le final (variante 0)</a:t>
            </a:r>
            <a:endParaRPr lang="en-US" sz="1100" dirty="0"/>
          </a:p>
        </p:txBody>
      </p:sp>
      <p:sp>
        <p:nvSpPr>
          <p:cNvPr id="10" name="stat_variantes"/>
          <p:cNvSpPr/>
          <p:nvPr/>
        </p:nvSpPr>
        <p:spPr>
          <a:xfrm>
            <a:off x="6126480" y="3108960"/>
            <a:ext cx="2560320" cy="960120"/>
          </a:xfrm>
          <a:prstGeom prst="roundRect">
            <a:avLst>
              <a:gd name="adj" fmla="val 7619"/>
            </a:avLst>
          </a:prstGeom>
          <a:solidFill>
            <a:srgbClr val="EEF3F6"/>
          </a:solidFill>
          <a:ln w="12700">
            <a:solidFill>
              <a:srgbClr val="EEF3F6"/>
            </a:solidFill>
            <a:prstDash val="solid"/>
          </a:ln>
        </p:spPr>
      </p:sp>
      <p:sp>
        <p:nvSpPr>
          <p:cNvPr id="11" name="Text 8"/>
          <p:cNvSpPr txBox="1"/>
          <p:nvPr/>
        </p:nvSpPr>
        <p:spPr>
          <a:xfrm>
            <a:off x="6263640" y="3182112"/>
            <a:ext cx="2286000" cy="457200"/>
          </a:xfrm>
          <a:prstGeom prst="rect">
            <a:avLst/>
          </a:prstGeom>
          <a:noFill/>
          <a:ln/>
        </p:spPr>
        <p:txBody>
          <a:bodyPr wrap="square" lIns="0" tIns="0" rIns="0" bIns="0" rtlCol="0" anchor="t"/>
          <a:lstStyle/>
          <a:p>
            <a:pPr marL="0" indent="0">
              <a:buNone/>
            </a:pPr>
            <a:r>
              <a:rPr lang="en-US" sz="2600" b="1" dirty="0">
                <a:solidFill>
                  <a:schemeClr val="tx2"/>
                </a:solidFill>
                <a:latin typeface="Cambria" pitchFamily="34" charset="0"/>
                <a:ea typeface="Cambria" pitchFamily="34" charset="-122"/>
                <a:cs typeface="Cambria" pitchFamily="34" charset="-120"/>
              </a:rPr>
              <a:t>99,8–100,0</a:t>
            </a:r>
            <a:endParaRPr lang="en-US" sz="2600" dirty="0"/>
          </a:p>
        </p:txBody>
      </p:sp>
      <p:sp>
        <p:nvSpPr>
          <p:cNvPr id="12" name="Text 9"/>
          <p:cNvSpPr txBox="1"/>
          <p:nvPr/>
        </p:nvSpPr>
        <p:spPr>
          <a:xfrm>
            <a:off x="6263640" y="3639312"/>
            <a:ext cx="2286000" cy="384048"/>
          </a:xfrm>
          <a:prstGeom prst="rect">
            <a:avLst/>
          </a:prstGeom>
          <a:noFill/>
          <a:ln/>
        </p:spPr>
        <p:txBody>
          <a:bodyPr wrap="square" lIns="0" tIns="0" rIns="0" bIns="0" rtlCol="0" anchor="t"/>
          <a:lstStyle/>
          <a:p>
            <a:pPr marL="0" indent="0">
              <a:buNone/>
            </a:pPr>
            <a:r>
              <a:rPr lang="en-US" sz="1100" dirty="0">
                <a:solidFill>
                  <a:schemeClr val="tx2"/>
                </a:solidFill>
              </a:rPr>
              <a:t>variantes 2 à 5 : aucune ne bat la base de façon nette</a:t>
            </a:r>
            <a:endParaRPr lang="en-US" sz="1100" dirty="0"/>
          </a:p>
        </p:txBody>
      </p:sp>
      <p:sp>
        <p:nvSpPr>
          <p:cNvPr id="13" name="Text 10"/>
          <p:cNvSpPr txBox="1"/>
          <p:nvPr/>
        </p:nvSpPr>
        <p:spPr>
          <a:xfrm>
            <a:off x="6126480" y="4160520"/>
            <a:ext cx="2560320" cy="548640"/>
          </a:xfrm>
          <a:prstGeom prst="rect">
            <a:avLst/>
          </a:prstGeom>
          <a:noFill/>
          <a:ln/>
        </p:spPr>
        <p:txBody>
          <a:bodyPr wrap="square" lIns="0" tIns="0" rIns="0" bIns="0" rtlCol="0" anchor="t"/>
          <a:lstStyle/>
          <a:p>
            <a:pPr marL="0" indent="0">
              <a:buNone/>
            </a:pPr>
            <a:r>
              <a:rPr lang="en-US" sz="1000" i="1" dirty="0">
                <a:solidFill>
                  <a:schemeClr val="accent5"/>
                </a:solidFill>
              </a:rPr>
              <a:t>Diversité initiale d0/k : base 0,41, hasard 1,58 — plus de diversité ne donne pas un meilleur résultat.</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Bloc 5 : le glouton par tours reste la référence</a:t>
            </a:r>
            <a:endParaRPr lang="en-US" sz="2600" dirty="0"/>
          </a:p>
        </p:txBody>
      </p:sp>
      <p:graphicFrame>
        <p:nvGraphicFramePr>
          <p:cNvPr id="3" name="dec_score"/>
          <p:cNvGraphicFramePr/>
          <p:nvPr/>
        </p:nvGraphicFramePr>
        <p:xfrm>
          <a:off x="457200" y="914400"/>
          <a:ext cx="402336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dec_stats"/>
          <p:cNvGraphicFramePr>
            <a:graphicFrameLocks noGrp="1"/>
          </p:cNvGraphicFramePr>
          <p:nvPr>
            <p:extLst>
              <p:ext uri="{D42A27DB-BD31-4B8C-83A1-F6EECF244321}">
                <p14:modId xmlns:p14="http://schemas.microsoft.com/office/powerpoint/2010/main" val="1579011935"/>
              </p:ext>
            </p:extLst>
          </p:nvPr>
        </p:nvGraphicFramePr>
        <p:xfrm>
          <a:off x="4663440" y="960120"/>
          <a:ext cx="4023360" cy="2240280"/>
        </p:xfrm>
        <a:graphic>
          <a:graphicData uri="http://schemas.openxmlformats.org/drawingml/2006/table">
            <a:tbl>
              <a:tblPr/>
              <a:tblGrid>
                <a:gridCol w="1097280"/>
                <a:gridCol w="548640"/>
                <a:gridCol w="594360"/>
                <a:gridCol w="640080"/>
                <a:gridCol w="594360"/>
                <a:gridCol w="548640"/>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Décodeur</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remplis.</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copies/vidéo</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requêtes servies</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copies inutiles</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µs/éval.</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r>
              <a:tr h="329184">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0 tours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99,3 %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56,6 %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0,3 %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11 194</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1 marge 15 %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88,8 %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50,9 %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0,0 %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11 792</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2 centré caches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99,7 %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18,22</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26,9 %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30,0 %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26 790</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3 seuils fixes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86,5 %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1,16</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46,9 %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0,1 %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9 747</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4 seuils co-évol.</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98,6 %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56,7 %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0,4 %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11 026</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bl>
          </a:graphicData>
        </a:graphic>
      </p:graphicFrame>
      <p:sp>
        <p:nvSpPr>
          <p:cNvPr id="4" name="Text 1"/>
          <p:cNvSpPr txBox="1"/>
          <p:nvPr/>
        </p:nvSpPr>
        <p:spPr>
          <a:xfrm>
            <a:off x="457200" y="3703320"/>
            <a:ext cx="8229600" cy="1051560"/>
          </a:xfrm>
          <a:prstGeom prst="rect">
            <a:avLst/>
          </a:prstGeom>
          <a:noFill/>
          <a:ln/>
        </p:spPr>
        <p:txBody>
          <a:bodyPr wrap="square" lIns="0" tIns="0" rIns="0" bIns="0" rtlCol="0" anchor="t"/>
          <a:lstStyle/>
          <a:p>
            <a:pPr marL="0" indent="0">
              <a:spcAft>
                <a:spcPts val="300"/>
              </a:spcAft>
              <a:buNone/>
            </a:pPr>
            <a:r>
              <a:rPr lang="en-US" sz="1150" b="1" dirty="0">
                <a:solidFill>
                  <a:srgbClr val="B5485A"/>
                </a:solidFill>
              </a:rPr>
              <a:t>Remplir ne suffit pas : </a:t>
            </a:r>
            <a:r>
              <a:rPr lang="en-US" sz="1150" dirty="0">
                <a:solidFill>
                  <a:schemeClr val="tx1"/>
                </a:solidFill>
              </a:rPr>
              <a:t>le décodeur 2 remplit 99,7 % des caches mais avec 30,0 % de copies inutiles et ne sert que 26,9 % des requêtes.</a:t>
            </a:r>
            <a:endParaRPr lang="en-US" sz="1150" dirty="0"/>
          </a:p>
          <a:p>
            <a:pPr marL="0" indent="0">
              <a:spcAft>
                <a:spcPts val="300"/>
              </a:spcAft>
              <a:buNone/>
            </a:pPr>
            <a:r>
              <a:rPr lang="en-US" sz="1150" b="1" dirty="0">
                <a:solidFill>
                  <a:srgbClr val="B5485A"/>
                </a:solidFill>
              </a:rPr>
              <a:t>Pas de copies, pas de gain : </a:t>
            </a:r>
            <a:r>
              <a:rPr lang="en-US" sz="1150" dirty="0">
                <a:solidFill>
                  <a:schemeClr val="tx1"/>
                </a:solidFill>
              </a:rPr>
              <a:t>le décodeur 1 ne fait jamais de copie (1,00 copie/vidéo) : 93,9 en moyenne.</a:t>
            </a:r>
            <a:endParaRPr lang="en-US" sz="1150" dirty="0"/>
          </a:p>
          <a:p>
            <a:pPr marL="0" indent="0">
              <a:spcAft>
                <a:spcPts val="300"/>
              </a:spcAft>
              <a:buNone/>
            </a:pPr>
            <a:r>
              <a:rPr lang="en-US" sz="1150" b="1" dirty="0">
                <a:solidFill>
                  <a:srgbClr val="0F7C8C"/>
                </a:solidFill>
              </a:rPr>
              <a:t>Mais : </a:t>
            </a:r>
            <a:r>
              <a:rPr lang="en-US" sz="1150" dirty="0">
                <a:solidFill>
                  <a:schemeClr val="tx1"/>
                </a:solidFill>
              </a:rPr>
              <a:t>déc. 1 gagne sur instance1, déc. 2 sur small_flat_sparse_lambda_02, déc. 4 sur instance3 → le meilleur décodeur dépend de l'instance.</a:t>
            </a:r>
            <a:endParaRPr lang="en-US" sz="11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Bloc 5 : un bon seuil aide, selon l'instance</a:t>
            </a:r>
            <a:endParaRPr lang="en-US" sz="2600" dirty="0"/>
          </a:p>
        </p:txBody>
      </p:sp>
      <p:pic>
        <p:nvPicPr>
          <p:cNvPr id="3" name="courbe_seuils" descr="C:\Users\PC\Desktop\advanced_Problem_Solving\Ad_Problem_Solving_GroupB\experiments\analysis\seuils_tau_density.png"/>
          <p:cNvPicPr>
            <a:picLocks noChangeAspect="1"/>
          </p:cNvPicPr>
          <p:nvPr/>
        </p:nvPicPr>
        <p:blipFill>
          <a:blip r:embed="rId3"/>
          <a:stretch>
            <a:fillRect/>
          </a:stretch>
        </p:blipFill>
        <p:spPr>
          <a:xfrm>
            <a:off x="457200" y="914400"/>
            <a:ext cx="4754880" cy="2852928"/>
          </a:xfrm>
          <a:prstGeom prst="rect">
            <a:avLst/>
          </a:prstGeom>
        </p:spPr>
      </p:pic>
      <p:sp>
        <p:nvSpPr>
          <p:cNvPr id="4" name="stat_instance1"/>
          <p:cNvSpPr/>
          <p:nvPr/>
        </p:nvSpPr>
        <p:spPr>
          <a:xfrm>
            <a:off x="5486400" y="914400"/>
            <a:ext cx="3200400" cy="960120"/>
          </a:xfrm>
          <a:prstGeom prst="roundRect">
            <a:avLst>
              <a:gd name="adj" fmla="val 7619"/>
            </a:avLst>
          </a:prstGeom>
          <a:solidFill>
            <a:srgbClr val="EEF3F6"/>
          </a:solidFill>
          <a:ln w="12700">
            <a:solidFill>
              <a:srgbClr val="EEF3F6"/>
            </a:solidFill>
            <a:prstDash val="solid"/>
          </a:ln>
        </p:spPr>
      </p:sp>
      <p:sp>
        <p:nvSpPr>
          <p:cNvPr id="5" name="Text 2"/>
          <p:cNvSpPr txBox="1"/>
          <p:nvPr/>
        </p:nvSpPr>
        <p:spPr>
          <a:xfrm>
            <a:off x="5623560" y="987552"/>
            <a:ext cx="2926080" cy="457200"/>
          </a:xfrm>
          <a:prstGeom prst="rect">
            <a:avLst/>
          </a:prstGeom>
          <a:noFill/>
          <a:ln/>
        </p:spPr>
        <p:txBody>
          <a:bodyPr wrap="square" lIns="0" tIns="0" rIns="0" bIns="0" rtlCol="0" anchor="t"/>
          <a:lstStyle/>
          <a:p>
            <a:pPr marL="0" indent="0">
              <a:buNone/>
            </a:pPr>
            <a:r>
              <a:rPr lang="en-US" sz="2600" b="1" dirty="0">
                <a:solidFill>
                  <a:schemeClr val="accent1"/>
                </a:solidFill>
                <a:latin typeface="Cambria" pitchFamily="34" charset="0"/>
                <a:ea typeface="Cambria" pitchFamily="34" charset="-122"/>
                <a:cs typeface="Cambria" pitchFamily="34" charset="-120"/>
              </a:rPr>
              <a:t>95,6 → 98,7 %</a:t>
            </a:r>
            <a:endParaRPr lang="en-US" sz="2600" dirty="0"/>
          </a:p>
        </p:txBody>
      </p:sp>
      <p:sp>
        <p:nvSpPr>
          <p:cNvPr id="6" name="Text 3"/>
          <p:cNvSpPr txBox="1"/>
          <p:nvPr/>
        </p:nvSpPr>
        <p:spPr>
          <a:xfrm>
            <a:off x="5623560" y="1444752"/>
            <a:ext cx="2926080" cy="384048"/>
          </a:xfrm>
          <a:prstGeom prst="rect">
            <a:avLst/>
          </a:prstGeom>
          <a:noFill/>
          <a:ln/>
        </p:spPr>
        <p:txBody>
          <a:bodyPr wrap="square" lIns="0" tIns="0" rIns="0" bIns="0" rtlCol="0" anchor="t"/>
          <a:lstStyle/>
          <a:p>
            <a:pPr marL="0" indent="0">
              <a:buNone/>
            </a:pPr>
            <a:r>
              <a:rPr lang="en-US" sz="1100" dirty="0">
                <a:solidFill>
                  <a:schemeClr val="tx2"/>
                </a:solidFill>
              </a:rPr>
              <a:t>instance1, τ = 10 (% meilleure valeur) ; copies 1,02 → 1,20</a:t>
            </a:r>
            <a:endParaRPr lang="en-US" sz="1100" dirty="0"/>
          </a:p>
        </p:txBody>
      </p:sp>
      <p:sp>
        <p:nvSpPr>
          <p:cNvPr id="7" name="stat_trop_haut"/>
          <p:cNvSpPr/>
          <p:nvPr/>
        </p:nvSpPr>
        <p:spPr>
          <a:xfrm>
            <a:off x="5486400" y="2011680"/>
            <a:ext cx="3200400" cy="960120"/>
          </a:xfrm>
          <a:prstGeom prst="roundRect">
            <a:avLst>
              <a:gd name="adj" fmla="val 7619"/>
            </a:avLst>
          </a:prstGeom>
          <a:solidFill>
            <a:srgbClr val="EEF3F6"/>
          </a:solidFill>
          <a:ln w="12700">
            <a:solidFill>
              <a:srgbClr val="EEF3F6"/>
            </a:solidFill>
            <a:prstDash val="solid"/>
          </a:ln>
        </p:spPr>
      </p:sp>
      <p:sp>
        <p:nvSpPr>
          <p:cNvPr id="8" name="Text 5"/>
          <p:cNvSpPr txBox="1"/>
          <p:nvPr/>
        </p:nvSpPr>
        <p:spPr>
          <a:xfrm>
            <a:off x="5623560" y="2084832"/>
            <a:ext cx="2926080" cy="457200"/>
          </a:xfrm>
          <a:prstGeom prst="rect">
            <a:avLst/>
          </a:prstGeom>
          <a:noFill/>
          <a:ln/>
        </p:spPr>
        <p:txBody>
          <a:bodyPr wrap="square" lIns="0" tIns="0" rIns="0" bIns="0" rtlCol="0" anchor="t"/>
          <a:lstStyle/>
          <a:p>
            <a:pPr marL="0" indent="0">
              <a:buNone/>
            </a:pPr>
            <a:r>
              <a:rPr lang="en-US" sz="2600" b="1" dirty="0">
                <a:solidFill>
                  <a:schemeClr val="accent4"/>
                </a:solidFill>
                <a:latin typeface="Cambria" pitchFamily="34" charset="0"/>
                <a:ea typeface="Cambria" pitchFamily="34" charset="-122"/>
                <a:cs typeface="Cambria" pitchFamily="34" charset="-120"/>
              </a:rPr>
              <a:t>14,1 % / 12,5 %</a:t>
            </a:r>
            <a:endParaRPr lang="en-US" sz="2600" dirty="0"/>
          </a:p>
        </p:txBody>
      </p:sp>
      <p:sp>
        <p:nvSpPr>
          <p:cNvPr id="9" name="Text 6"/>
          <p:cNvSpPr txBox="1"/>
          <p:nvPr/>
        </p:nvSpPr>
        <p:spPr>
          <a:xfrm>
            <a:off x="5623560" y="2542032"/>
            <a:ext cx="2926080" cy="384048"/>
          </a:xfrm>
          <a:prstGeom prst="rect">
            <a:avLst/>
          </a:prstGeom>
          <a:noFill/>
          <a:ln/>
        </p:spPr>
        <p:txBody>
          <a:bodyPr wrap="square" lIns="0" tIns="0" rIns="0" bIns="0" rtlCol="0" anchor="t"/>
          <a:lstStyle/>
          <a:p>
            <a:pPr marL="0" indent="0">
              <a:buNone/>
            </a:pPr>
            <a:r>
              <a:rPr lang="en-US" sz="1100" dirty="0">
                <a:solidFill>
                  <a:schemeClr val="tx2"/>
                </a:solidFill>
              </a:rPr>
              <a:t>score relatif si le seuil est trop haut : instance1 à τ = 100, instance3 à τ = 0,15</a:t>
            </a:r>
            <a:endParaRPr lang="en-US" sz="1100" dirty="0"/>
          </a:p>
        </p:txBody>
      </p:sp>
      <p:sp>
        <p:nvSpPr>
          <p:cNvPr id="10" name="stat_echelle"/>
          <p:cNvSpPr/>
          <p:nvPr/>
        </p:nvSpPr>
        <p:spPr>
          <a:xfrm>
            <a:off x="5486400" y="3108960"/>
            <a:ext cx="3200400" cy="960120"/>
          </a:xfrm>
          <a:prstGeom prst="roundRect">
            <a:avLst>
              <a:gd name="adj" fmla="val 7619"/>
            </a:avLst>
          </a:prstGeom>
          <a:solidFill>
            <a:srgbClr val="EEF3F6"/>
          </a:solidFill>
          <a:ln w="12700">
            <a:solidFill>
              <a:srgbClr val="EEF3F6"/>
            </a:solidFill>
            <a:prstDash val="solid"/>
          </a:ln>
        </p:spPr>
      </p:sp>
      <p:sp>
        <p:nvSpPr>
          <p:cNvPr id="11" name="Text 8"/>
          <p:cNvSpPr txBox="1"/>
          <p:nvPr/>
        </p:nvSpPr>
        <p:spPr>
          <a:xfrm>
            <a:off x="5623560" y="3182112"/>
            <a:ext cx="2926080" cy="457200"/>
          </a:xfrm>
          <a:prstGeom prst="rect">
            <a:avLst/>
          </a:prstGeom>
          <a:noFill/>
          <a:ln/>
        </p:spPr>
        <p:txBody>
          <a:bodyPr wrap="square" lIns="0" tIns="0" rIns="0" bIns="0" rtlCol="0" anchor="t"/>
          <a:lstStyle/>
          <a:p>
            <a:pPr marL="0" indent="0">
              <a:buNone/>
            </a:pPr>
            <a:r>
              <a:rPr lang="en-US" sz="2600" b="1" dirty="0">
                <a:solidFill>
                  <a:schemeClr val="tx2"/>
                </a:solidFill>
                <a:latin typeface="Cambria" pitchFamily="34" charset="0"/>
                <a:ea typeface="Cambria" pitchFamily="34" charset="-122"/>
                <a:cs typeface="Cambria" pitchFamily="34" charset="-120"/>
              </a:rPr>
              <a:t>0,02 → 9 829 182</a:t>
            </a:r>
            <a:endParaRPr lang="en-US" sz="2600" dirty="0"/>
          </a:p>
        </p:txBody>
      </p:sp>
      <p:sp>
        <p:nvSpPr>
          <p:cNvPr id="12" name="Text 9"/>
          <p:cNvSpPr txBox="1"/>
          <p:nvPr/>
        </p:nvSpPr>
        <p:spPr>
          <a:xfrm>
            <a:off x="5623560" y="3639312"/>
            <a:ext cx="2926080" cy="384048"/>
          </a:xfrm>
          <a:prstGeom prst="rect">
            <a:avLst/>
          </a:prstGeom>
          <a:noFill/>
          <a:ln/>
        </p:spPr>
        <p:txBody>
          <a:bodyPr wrap="square" lIns="0" tIns="0" rIns="0" bIns="0" rtlCol="0" anchor="t"/>
          <a:lstStyle/>
          <a:p>
            <a:pPr marL="0" indent="0">
              <a:buNone/>
            </a:pPr>
            <a:r>
              <a:rPr lang="en-US" sz="1100" dirty="0">
                <a:solidFill>
                  <a:schemeClr val="tx2"/>
                </a:solidFill>
              </a:rPr>
              <a:t>utilité médiane (ms/Mo) selon l'instance : un seuil absolu n'a pas de sens commun</a:t>
            </a:r>
            <a:endParaRPr lang="en-US" sz="1100" dirty="0"/>
          </a:p>
        </p:txBody>
      </p:sp>
      <p:sp>
        <p:nvSpPr>
          <p:cNvPr id="13" name="Text 10"/>
          <p:cNvSpPr txBox="1"/>
          <p:nvPr/>
        </p:nvSpPr>
        <p:spPr>
          <a:xfrm>
            <a:off x="457200" y="3840480"/>
            <a:ext cx="4754880" cy="457200"/>
          </a:xfrm>
          <a:prstGeom prst="rect">
            <a:avLst/>
          </a:prstGeom>
          <a:noFill/>
          <a:ln/>
        </p:spPr>
        <p:txBody>
          <a:bodyPr wrap="square" lIns="0" tIns="0" rIns="0" bIns="0" rtlCol="0" anchor="t"/>
          <a:lstStyle/>
          <a:p>
            <a:pPr marL="0" indent="0">
              <a:buNone/>
            </a:pPr>
            <a:r>
              <a:rPr lang="en-US" sz="1150" b="1" dirty="0">
                <a:solidFill>
                  <a:srgbClr val="B5485A"/>
                </a:solidFill>
              </a:rPr>
              <a:t>τ_réserve n'aide jamais (max 100,0). </a:t>
            </a:r>
            <a:r>
              <a:rPr lang="en-US" sz="1150" dirty="0">
                <a:solidFill>
                  <a:srgbClr val="1B2333"/>
                </a:solidFill>
              </a:rPr>
              <a:t>Le déc. 4 borne τ_densité à [0 ; 0,5] : il ne peut pas trouver τ = 10.</a:t>
            </a:r>
            <a:endParaRPr lang="en-US" sz="1150" dirty="0"/>
          </a:p>
        </p:txBody>
      </p:sp>
      <p:sp>
        <p:nvSpPr>
          <p:cNvPr id="14" name="Text 11"/>
          <p:cNvSpPr txBox="1"/>
          <p:nvPr/>
        </p:nvSpPr>
        <p:spPr>
          <a:xfrm>
            <a:off x="457200" y="4315968"/>
            <a:ext cx="4754880" cy="365760"/>
          </a:xfrm>
          <a:prstGeom prst="rect">
            <a:avLst/>
          </a:prstGeom>
          <a:noFill/>
          <a:ln/>
        </p:spPr>
        <p:txBody>
          <a:bodyPr wrap="square" lIns="0" tIns="0" rIns="0" bIns="0" rtlCol="0" anchor="t"/>
          <a:lstStyle/>
          <a:p>
            <a:pPr marL="0" indent="0">
              <a:buNone/>
            </a:pPr>
            <a:r>
              <a:rPr lang="en-US" sz="1150" i="1" dirty="0">
                <a:solidFill>
                  <a:schemeClr val="accent1"/>
                </a:solidFill>
              </a:rPr>
              <a:t>Piste : un seuil relatif (fraction de l'utilité médiane), appris par le GA.</a:t>
            </a:r>
            <a:endParaRPr lang="en-US" sz="11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Complexité : les formules vérifiées par la mesure</a:t>
            </a:r>
            <a:endParaRPr lang="en-US" sz="2600" dirty="0"/>
          </a:p>
        </p:txBody>
      </p:sp>
      <p:graphicFrame>
        <p:nvGraphicFramePr>
          <p:cNvPr id="7" name="table_complexite"/>
          <p:cNvGraphicFramePr>
            <a:graphicFrameLocks noGrp="1"/>
          </p:cNvGraphicFramePr>
          <p:nvPr>
            <p:extLst>
              <p:ext uri="{D42A27DB-BD31-4B8C-83A1-F6EECF244321}">
                <p14:modId xmlns:p14="http://schemas.microsoft.com/office/powerpoint/2010/main" val="1579011935"/>
              </p:ext>
            </p:extLst>
          </p:nvPr>
        </p:nvGraphicFramePr>
        <p:xfrm>
          <a:off x="457200" y="914400"/>
          <a:ext cx="3749040" cy="2633472"/>
        </p:xfrm>
        <a:graphic>
          <a:graphicData uri="http://schemas.openxmlformats.org/drawingml/2006/table">
            <a:tbl>
              <a:tblPr/>
              <a:tblGrid>
                <a:gridCol w="2148840"/>
                <a:gridCol w="1600200"/>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Opérateur</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Coût</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r>
              <a:tr h="329184">
                <a:tc>
                  <a:txBody>
                    <a:bodyPr/>
                    <a:lstStyle/>
                    <a:p>
                      <a:pPr marL="0" indent="0">
                        <a:buNone/>
                      </a:pPr>
                      <a:r>
                        <a:rPr lang="en-US" sz="1050" dirty="0">
                          <a:solidFill>
                            <a:srgbClr val="14324A"/>
                          </a:solidFill>
                          <a:latin typeface="Calibri" pitchFamily="34" charset="0"/>
                          <a:ea typeface="Calibri" pitchFamily="34" charset="-122"/>
                          <a:cs typeface="Calibri" pitchFamily="34" charset="-120"/>
                        </a:rPr>
                        <a:t>Init 0, 2, 3, 5 (tri utilité bruitée)</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50" b="1" dirty="0">
                          <a:solidFill>
                            <a:srgbClr val="1B2333"/>
                          </a:solidFill>
                          <a:latin typeface="Calibri" pitchFamily="34" charset="0"/>
                          <a:ea typeface="Calibri" pitchFamily="34" charset="-122"/>
                          <a:cs typeface="Calibri" pitchFamily="34" charset="-120"/>
                        </a:rPr>
                        <a:t>O(n log n) / individu</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50" dirty="0">
                          <a:solidFill>
                            <a:srgbClr val="14324A"/>
                          </a:solidFill>
                          <a:latin typeface="Calibri" pitchFamily="34" charset="0"/>
                          <a:ea typeface="Calibri" pitchFamily="34" charset="-122"/>
                          <a:cs typeface="Calibri" pitchFamily="34" charset="-120"/>
                        </a:rPr>
                        <a:t>Init 1 (hasard)</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50" b="1" dirty="0">
                          <a:solidFill>
                            <a:srgbClr val="1B2333"/>
                          </a:solidFill>
                          <a:latin typeface="Calibri" pitchFamily="34" charset="0"/>
                          <a:ea typeface="Calibri" pitchFamily="34" charset="-122"/>
                          <a:cs typeface="Calibri" pitchFamily="34" charset="-120"/>
                        </a:rPr>
                        <a:t>O(n) / individu</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50" dirty="0">
                          <a:solidFill>
                            <a:srgbClr val="14324A"/>
                          </a:solidFill>
                          <a:latin typeface="Calibri" pitchFamily="34" charset="0"/>
                          <a:ea typeface="Calibri" pitchFamily="34" charset="-122"/>
                          <a:cs typeface="Calibri" pitchFamily="34" charset="-120"/>
                        </a:rPr>
                        <a:t>Init 4 (mélange du début)</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50" b="1" dirty="0">
                          <a:solidFill>
                            <a:srgbClr val="1B2333"/>
                          </a:solidFill>
                          <a:latin typeface="Calibri" pitchFamily="34" charset="0"/>
                          <a:ea typeface="Calibri" pitchFamily="34" charset="-122"/>
                          <a:cs typeface="Calibri" pitchFamily="34" charset="-120"/>
                        </a:rPr>
                        <a:t>O(n log n) (tri refait)</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50" dirty="0">
                          <a:solidFill>
                            <a:srgbClr val="14324A"/>
                          </a:solidFill>
                          <a:latin typeface="Calibri" pitchFamily="34" charset="0"/>
                          <a:ea typeface="Calibri" pitchFamily="34" charset="-122"/>
                          <a:cs typeface="Calibri" pitchFamily="34" charset="-120"/>
                        </a:rPr>
                        <a:t>Diversité d0</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50" b="1" dirty="0">
                          <a:solidFill>
                            <a:srgbClr val="1B2333"/>
                          </a:solidFill>
                          <a:latin typeface="Calibri" pitchFamily="34" charset="0"/>
                          <a:ea typeface="Calibri" pitchFamily="34" charset="-122"/>
                          <a:cs typeface="Calibri" pitchFamily="34" charset="-120"/>
                        </a:rPr>
                        <a:t>O(P² · k)</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50" dirty="0">
                          <a:solidFill>
                            <a:srgbClr val="14324A"/>
                          </a:solidFill>
                          <a:latin typeface="Calibri" pitchFamily="34" charset="0"/>
                          <a:ea typeface="Calibri" pitchFamily="34" charset="-122"/>
                          <a:cs typeface="Calibri" pitchFamily="34" charset="-120"/>
                        </a:rPr>
                        <a:t>Déc. 0, 3, 4 (glouton par tours)</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50" b="1" dirty="0">
                          <a:solidFill>
                            <a:srgbClr val="1B2333"/>
                          </a:solidFill>
                          <a:latin typeface="Calibri" pitchFamily="34" charset="0"/>
                          <a:ea typeface="Calibri" pitchFamily="34" charset="-122"/>
                          <a:cs typeface="Calibri" pitchFamily="34" charset="-120"/>
                        </a:rPr>
                        <a:t>O((copies + 1) · R · K)</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50" dirty="0">
                          <a:solidFill>
                            <a:srgbClr val="14324A"/>
                          </a:solidFill>
                          <a:latin typeface="Calibri" pitchFamily="34" charset="0"/>
                          <a:ea typeface="Calibri" pitchFamily="34" charset="-122"/>
                          <a:cs typeface="Calibri" pitchFamily="34" charset="-120"/>
                        </a:rPr>
                        <a:t>Déc. 1 (marge + réparation)</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50" b="1" dirty="0">
                          <a:solidFill>
                            <a:srgbClr val="1B2333"/>
                          </a:solidFill>
                          <a:latin typeface="Calibri" pitchFamily="34" charset="0"/>
                          <a:ea typeface="Calibri" pitchFamily="34" charset="-122"/>
                          <a:cs typeface="Calibri" pitchFamily="34" charset="-120"/>
                        </a:rPr>
                        <a:t>O(R·K + E·V + R·C)</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329184">
                <a:tc>
                  <a:txBody>
                    <a:bodyPr/>
                    <a:lstStyle/>
                    <a:p>
                      <a:pPr marL="0" indent="0">
                        <a:buNone/>
                      </a:pPr>
                      <a:r>
                        <a:rPr lang="en-US" sz="1050" dirty="0">
                          <a:solidFill>
                            <a:srgbClr val="14324A"/>
                          </a:solidFill>
                          <a:latin typeface="Calibri" pitchFamily="34" charset="0"/>
                          <a:ea typeface="Calibri" pitchFamily="34" charset="-122"/>
                          <a:cs typeface="Calibri" pitchFamily="34" charset="-120"/>
                        </a:rPr>
                        <a:t>Déc. 2 (centré caches)</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50" b="1" dirty="0">
                          <a:solidFill>
                            <a:srgbClr val="1B2333"/>
                          </a:solidFill>
                          <a:latin typeface="Calibri" pitchFamily="34" charset="0"/>
                          <a:ea typeface="Calibri" pitchFamily="34" charset="-122"/>
                          <a:cs typeface="Calibri" pitchFamily="34" charset="-120"/>
                        </a:rPr>
                        <a:t>O(ΣK·V + C·n + E·V + R·C)</a:t>
                      </a:r>
                      <a:endParaRPr lang="en-US" sz="10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bl>
          </a:graphicData>
        </a:graphic>
      </p:graphicFrame>
      <p:sp>
        <p:nvSpPr>
          <p:cNvPr id="4" name="Text 1"/>
          <p:cNvSpPr txBox="1"/>
          <p:nvPr/>
        </p:nvSpPr>
        <p:spPr>
          <a:xfrm>
            <a:off x="457200" y="4023360"/>
            <a:ext cx="3749040" cy="548640"/>
          </a:xfrm>
          <a:prstGeom prst="rect">
            <a:avLst/>
          </a:prstGeom>
          <a:noFill/>
          <a:ln/>
        </p:spPr>
        <p:txBody>
          <a:bodyPr wrap="square" lIns="0" tIns="0" rIns="0" bIns="0" rtlCol="0" anchor="t"/>
          <a:lstStyle/>
          <a:p>
            <a:pPr marL="0" indent="0">
              <a:buNone/>
            </a:pPr>
            <a:r>
              <a:rPr lang="en-US" sz="1000" i="1" dirty="0">
                <a:solidFill>
                  <a:schemeClr val="accent5"/>
                </a:solidFill>
              </a:rPr>
              <a:t>n vidéos candidates, R paires (vidéo, endpoint) demandées, K caches par endpoint, E endpoints, V vidéos, C caches, P population, k = n/4.</a:t>
            </a:r>
            <a:endParaRPr lang="en-US" sz="1000" dirty="0"/>
          </a:p>
        </p:txBody>
      </p:sp>
      <p:pic>
        <p:nvPicPr>
          <p:cNvPr id="5" name="verif_complexite" descr="C:\Users\PC\Desktop\advanced_Problem_Solving\Ad_Problem_Solving_GroupB\experiments\analysis\complexite_verification.png"/>
          <p:cNvPicPr>
            <a:picLocks noChangeAspect="1"/>
          </p:cNvPicPr>
          <p:nvPr/>
        </p:nvPicPr>
        <p:blipFill>
          <a:blip r:embed="rId3"/>
          <a:stretch>
            <a:fillRect/>
          </a:stretch>
        </p:blipFill>
        <p:spPr>
          <a:xfrm>
            <a:off x="4389120" y="914400"/>
            <a:ext cx="4297680" cy="1289304"/>
          </a:xfrm>
          <a:prstGeom prst="rect">
            <a:avLst/>
          </a:prstGeom>
        </p:spPr>
      </p:pic>
      <p:sp>
        <p:nvSpPr>
          <p:cNvPr id="6" name="Text 2"/>
          <p:cNvSpPr txBox="1"/>
          <p:nvPr/>
        </p:nvSpPr>
        <p:spPr>
          <a:xfrm>
            <a:off x="4389120" y="2377440"/>
            <a:ext cx="4297680" cy="109728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glouton (déc. 0, 3, 4) : pente 0,96, corrélation 0,99</a:t>
            </a:r>
            <a:endParaRPr lang="en-US" sz="1150" dirty="0"/>
          </a:p>
          <a:p>
            <a:pPr marL="342900" indent="-342900">
              <a:spcAft>
                <a:spcPts val="400"/>
              </a:spcAft>
              <a:buSzPct val="100000"/>
              <a:buChar char="•"/>
            </a:pPr>
            <a:r>
              <a:rPr lang="en-US" sz="1150" dirty="0">
                <a:solidFill>
                  <a:schemeClr val="tx1"/>
                </a:solidFill>
              </a:rPr>
              <a:t>déc. 1 : pente 0,85, corrélation 1,00</a:t>
            </a:r>
            <a:endParaRPr lang="en-US" sz="1150" dirty="0"/>
          </a:p>
          <a:p>
            <a:pPr marL="342900" indent="-342900">
              <a:spcAft>
                <a:spcPts val="400"/>
              </a:spcAft>
              <a:buSzPct val="100000"/>
              <a:buChar char="•"/>
            </a:pPr>
            <a:r>
              <a:rPr lang="en-US" sz="1150" dirty="0">
                <a:solidFill>
                  <a:schemeClr val="tx1"/>
                </a:solidFill>
              </a:rPr>
              <a:t>déc. 2 : pente 0,88, corrélation 0,98</a:t>
            </a:r>
            <a:endParaRPr lang="en-US" sz="1150" dirty="0"/>
          </a:p>
        </p:txBody>
      </p:sp>
      <p:sp>
        <p:nvSpPr>
          <p:cNvPr id="3" name="Text 3"/>
          <p:cNvSpPr txBox="1"/>
          <p:nvPr/>
        </p:nvSpPr>
        <p:spPr>
          <a:xfrm>
            <a:off x="4389120" y="3566160"/>
            <a:ext cx="4297680" cy="685800"/>
          </a:xfrm>
          <a:prstGeom prst="rect">
            <a:avLst/>
          </a:prstGeom>
          <a:noFill/>
          <a:ln/>
        </p:spPr>
        <p:txBody>
          <a:bodyPr wrap="square" lIns="0" tIns="0" rIns="0" bIns="0" rtlCol="0" anchor="t"/>
          <a:lstStyle/>
          <a:p>
            <a:pPr marL="0" indent="0">
              <a:buNone/>
            </a:pPr>
            <a:r>
              <a:rPr lang="en-US" sz="1100" i="1" dirty="0">
                <a:solidFill>
                  <a:schemeClr val="accent1"/>
                </a:solidFill>
              </a:rPr>
              <a:t>Une pente proche de 1 en log-log = temps proportionnel à la formule. Le décodeur coûte bien plus que tout le reste : c'est lui qui fixe le temps du GA.</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Bilan SWOT de mes blocs (chaque point est mesuré)</a:t>
            </a:r>
            <a:endParaRPr lang="en-US" sz="2600" dirty="0"/>
          </a:p>
        </p:txBody>
      </p:sp>
      <p:sp>
        <p:nvSpPr>
          <p:cNvPr id="3" name="swot_0"/>
          <p:cNvSpPr/>
          <p:nvPr/>
        </p:nvSpPr>
        <p:spPr>
          <a:xfrm>
            <a:off x="457200" y="914400"/>
            <a:ext cx="4069080" cy="1783080"/>
          </a:xfrm>
          <a:prstGeom prst="roundRect">
            <a:avLst>
              <a:gd name="adj" fmla="val 4103"/>
            </a:avLst>
          </a:prstGeom>
          <a:solidFill>
            <a:srgbClr val="EEF3F6"/>
          </a:solidFill>
          <a:ln w="12700">
            <a:solidFill>
              <a:srgbClr val="EEF3F6"/>
            </a:solidFill>
            <a:prstDash val="solid"/>
          </a:ln>
        </p:spPr>
      </p:sp>
      <p:sp>
        <p:nvSpPr>
          <p:cNvPr id="4" name="Text 2"/>
          <p:cNvSpPr txBox="1"/>
          <p:nvPr/>
        </p:nvSpPr>
        <p:spPr>
          <a:xfrm>
            <a:off x="640080" y="1005840"/>
            <a:ext cx="3657600" cy="320040"/>
          </a:xfrm>
          <a:prstGeom prst="rect">
            <a:avLst/>
          </a:prstGeom>
          <a:noFill/>
          <a:ln/>
        </p:spPr>
        <p:txBody>
          <a:bodyPr wrap="square" lIns="0" tIns="0" rIns="0" bIns="0" rtlCol="0" anchor="t"/>
          <a:lstStyle/>
          <a:p>
            <a:pPr marL="0" indent="0">
              <a:buNone/>
            </a:pPr>
            <a:r>
              <a:rPr lang="en-US" sz="1500" b="1" dirty="0">
                <a:solidFill>
                  <a:srgbClr val="0F7C8C"/>
                </a:solidFill>
                <a:latin typeface="Cambria" pitchFamily="34" charset="0"/>
                <a:ea typeface="Cambria" pitchFamily="34" charset="-122"/>
                <a:cs typeface="Cambria" pitchFamily="34" charset="-120"/>
              </a:rPr>
              <a:t>Forces</a:t>
            </a:r>
            <a:endParaRPr lang="en-US" sz="1500" dirty="0"/>
          </a:p>
        </p:txBody>
      </p:sp>
      <p:sp>
        <p:nvSpPr>
          <p:cNvPr id="5" name="Text 3"/>
          <p:cNvSpPr txBox="1"/>
          <p:nvPr/>
        </p:nvSpPr>
        <p:spPr>
          <a:xfrm>
            <a:off x="640080" y="1371600"/>
            <a:ext cx="3749040" cy="12801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Init par utilité : hasard = 67,5 de la base</a:t>
            </a:r>
            <a:endParaRPr lang="en-US" sz="1100" dirty="0"/>
          </a:p>
          <a:p>
            <a:pPr marL="342900" indent="-342900">
              <a:spcAft>
                <a:spcPts val="200"/>
              </a:spcAft>
              <a:buSzPct val="100000"/>
              <a:buChar char="•"/>
            </a:pPr>
            <a:r>
              <a:rPr lang="en-US" sz="1100" dirty="0">
                <a:solidFill>
                  <a:schemeClr val="tx1"/>
                </a:solidFill>
              </a:rPr>
              <a:t>Glouton v2 : 95,5 % sur instance1 dès le départ</a:t>
            </a:r>
            <a:endParaRPr lang="en-US" sz="1100" dirty="0"/>
          </a:p>
          <a:p>
            <a:pPr marL="342900" indent="-342900">
              <a:spcAft>
                <a:spcPts val="200"/>
              </a:spcAft>
              <a:buSzPct val="100000"/>
              <a:buChar char="•"/>
            </a:pPr>
            <a:r>
              <a:rPr lang="en-US" sz="1100" dirty="0">
                <a:solidFill>
                  <a:schemeClr val="tx1"/>
                </a:solidFill>
              </a:rPr>
              <a:t>Remplissage 99,3 %, 0,27 % de copies inutiles</a:t>
            </a:r>
            <a:endParaRPr lang="en-US" sz="1100" dirty="0"/>
          </a:p>
          <a:p>
            <a:pPr marL="342900" indent="-342900">
              <a:spcAft>
                <a:spcPts val="200"/>
              </a:spcAft>
              <a:buSzPct val="100000"/>
              <a:buChar char="•"/>
            </a:pPr>
            <a:r>
              <a:rPr lang="en-US" sz="1100" dirty="0">
                <a:solidFill>
                  <a:schemeClr val="tx1"/>
                </a:solidFill>
              </a:rPr>
              <a:t>Complexité vérifiée (corrélation ≥ 0,98)</a:t>
            </a:r>
            <a:endParaRPr lang="en-US" sz="1100" dirty="0"/>
          </a:p>
        </p:txBody>
      </p:sp>
      <p:sp>
        <p:nvSpPr>
          <p:cNvPr id="6" name="swot_1"/>
          <p:cNvSpPr/>
          <p:nvPr/>
        </p:nvSpPr>
        <p:spPr>
          <a:xfrm>
            <a:off x="4617720" y="914400"/>
            <a:ext cx="4069080" cy="1783080"/>
          </a:xfrm>
          <a:prstGeom prst="roundRect">
            <a:avLst>
              <a:gd name="adj" fmla="val 4103"/>
            </a:avLst>
          </a:prstGeom>
          <a:solidFill>
            <a:srgbClr val="EEF3F6"/>
          </a:solidFill>
          <a:ln w="12700">
            <a:solidFill>
              <a:srgbClr val="EEF3F6"/>
            </a:solidFill>
            <a:prstDash val="solid"/>
          </a:ln>
        </p:spPr>
      </p:sp>
      <p:sp>
        <p:nvSpPr>
          <p:cNvPr id="7" name="Text 5"/>
          <p:cNvSpPr txBox="1"/>
          <p:nvPr/>
        </p:nvSpPr>
        <p:spPr>
          <a:xfrm>
            <a:off x="4800600" y="1005840"/>
            <a:ext cx="3657600" cy="320040"/>
          </a:xfrm>
          <a:prstGeom prst="rect">
            <a:avLst/>
          </a:prstGeom>
          <a:noFill/>
          <a:ln/>
        </p:spPr>
        <p:txBody>
          <a:bodyPr wrap="square" lIns="0" tIns="0" rIns="0" bIns="0" rtlCol="0" anchor="t"/>
          <a:lstStyle/>
          <a:p>
            <a:pPr marL="0" indent="0">
              <a:buNone/>
            </a:pPr>
            <a:r>
              <a:rPr lang="en-US" sz="1500" b="1" dirty="0">
                <a:solidFill>
                  <a:srgbClr val="B5485A"/>
                </a:solidFill>
                <a:latin typeface="Cambria" pitchFamily="34" charset="0"/>
                <a:ea typeface="Cambria" pitchFamily="34" charset="-122"/>
                <a:cs typeface="Cambria" pitchFamily="34" charset="-120"/>
              </a:rPr>
              <a:t>Faiblesses</a:t>
            </a:r>
            <a:endParaRPr lang="en-US" sz="1500" dirty="0"/>
          </a:p>
        </p:txBody>
      </p:sp>
      <p:sp>
        <p:nvSpPr>
          <p:cNvPr id="8" name="Text 6"/>
          <p:cNvSpPr txBox="1"/>
          <p:nvPr/>
        </p:nvSpPr>
        <p:spPr>
          <a:xfrm>
            <a:off x="4800600" y="1371600"/>
            <a:ext cx="3749040" cy="12801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Le GA n'ajoute que +0,35 % au meilleur initial</a:t>
            </a:r>
            <a:endParaRPr lang="en-US" sz="1100" dirty="0"/>
          </a:p>
          <a:p>
            <a:pPr marL="342900" indent="-342900">
              <a:spcAft>
                <a:spcPts val="200"/>
              </a:spcAft>
              <a:buSzPct val="100000"/>
              <a:buChar char="•"/>
            </a:pPr>
            <a:r>
              <a:rPr lang="en-US" sz="1100" dirty="0">
                <a:solidFill>
                  <a:schemeClr val="tx1"/>
                </a:solidFill>
              </a:rPr>
              <a:t>30,8 % du potentiel non couvert en moyenne</a:t>
            </a:r>
            <a:endParaRPr lang="en-US" sz="1100" dirty="0"/>
          </a:p>
          <a:p>
            <a:pPr marL="342900" indent="-342900">
              <a:spcAft>
                <a:spcPts val="200"/>
              </a:spcAft>
              <a:buSzPct val="100000"/>
              <a:buChar char="•"/>
            </a:pPr>
            <a:r>
              <a:rPr lang="en-US" sz="1100" dirty="0">
                <a:solidFill>
                  <a:schemeClr val="tx1"/>
                </a:solidFill>
              </a:rPr>
              <a:t>Remplissage par tours : peu de copies des vidéos populaires (videos_worth_spreading 28,6 %)</a:t>
            </a:r>
            <a:endParaRPr lang="en-US" sz="1100" dirty="0"/>
          </a:p>
          <a:p>
            <a:pPr marL="342900" indent="-342900">
              <a:spcAft>
                <a:spcPts val="200"/>
              </a:spcAft>
              <a:buSzPct val="100000"/>
              <a:buChar char="•"/>
            </a:pPr>
            <a:r>
              <a:rPr lang="en-US" sz="1100" dirty="0">
                <a:solidFill>
                  <a:schemeClr val="tx1"/>
                </a:solidFill>
              </a:rPr>
              <a:t>Une seule configuration de GA testée (pop. 30, 50 gén.)</a:t>
            </a:r>
            <a:endParaRPr lang="en-US" sz="1100" dirty="0"/>
          </a:p>
        </p:txBody>
      </p:sp>
      <p:sp>
        <p:nvSpPr>
          <p:cNvPr id="9" name="swot_2"/>
          <p:cNvSpPr/>
          <p:nvPr/>
        </p:nvSpPr>
        <p:spPr>
          <a:xfrm>
            <a:off x="457200" y="2834640"/>
            <a:ext cx="4069080" cy="1783080"/>
          </a:xfrm>
          <a:prstGeom prst="roundRect">
            <a:avLst>
              <a:gd name="adj" fmla="val 4103"/>
            </a:avLst>
          </a:prstGeom>
          <a:solidFill>
            <a:srgbClr val="EEF3F6"/>
          </a:solidFill>
          <a:ln w="12700">
            <a:solidFill>
              <a:srgbClr val="EEF3F6"/>
            </a:solidFill>
            <a:prstDash val="solid"/>
          </a:ln>
        </p:spPr>
      </p:sp>
      <p:sp>
        <p:nvSpPr>
          <p:cNvPr id="10" name="Text 8"/>
          <p:cNvSpPr txBox="1"/>
          <p:nvPr/>
        </p:nvSpPr>
        <p:spPr>
          <a:xfrm>
            <a:off x="640080" y="2926080"/>
            <a:ext cx="3657600" cy="320040"/>
          </a:xfrm>
          <a:prstGeom prst="rect">
            <a:avLst/>
          </a:prstGeom>
          <a:noFill/>
          <a:ln/>
        </p:spPr>
        <p:txBody>
          <a:bodyPr wrap="square" lIns="0" tIns="0" rIns="0" bIns="0" rtlCol="0" anchor="t"/>
          <a:lstStyle/>
          <a:p>
            <a:pPr marL="0" indent="0">
              <a:buNone/>
            </a:pPr>
            <a:r>
              <a:rPr lang="en-US" sz="1500" b="1" dirty="0">
                <a:solidFill>
                  <a:srgbClr val="F2C14E"/>
                </a:solidFill>
                <a:latin typeface="Cambria" pitchFamily="34" charset="0"/>
                <a:ea typeface="Cambria" pitchFamily="34" charset="-122"/>
                <a:cs typeface="Cambria" pitchFamily="34" charset="-120"/>
              </a:rPr>
              <a:t>Opportunités</a:t>
            </a:r>
            <a:endParaRPr lang="en-US" sz="1500" dirty="0"/>
          </a:p>
        </p:txBody>
      </p:sp>
      <p:sp>
        <p:nvSpPr>
          <p:cNvPr id="11" name="Text 9"/>
          <p:cNvSpPr txBox="1"/>
          <p:nvPr/>
        </p:nvSpPr>
        <p:spPr>
          <a:xfrm>
            <a:off x="640080" y="3291840"/>
            <a:ext cx="3749040" cy="12801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Copies au gain marginal : déc. 2 fait +10,3 % sur l'instance creuse et plate</a:t>
            </a:r>
            <a:endParaRPr lang="en-US" sz="1100" dirty="0"/>
          </a:p>
          <a:p>
            <a:pPr marL="342900" indent="-342900">
              <a:spcAft>
                <a:spcPts val="200"/>
              </a:spcAft>
              <a:buSzPct val="100000"/>
              <a:buChar char="•"/>
            </a:pPr>
            <a:r>
              <a:rPr lang="en-US" sz="1100" dirty="0">
                <a:solidFill>
                  <a:schemeClr val="tx1"/>
                </a:solidFill>
              </a:rPr>
              <a:t>Seuil bien réglé : instance1 98,7 % au lieu de 95,6 %</a:t>
            </a:r>
            <a:endParaRPr lang="en-US" sz="1100" dirty="0"/>
          </a:p>
          <a:p>
            <a:pPr marL="342900" indent="-342900">
              <a:spcAft>
                <a:spcPts val="200"/>
              </a:spcAft>
              <a:buSzPct val="100000"/>
              <a:buChar char="•"/>
            </a:pPr>
            <a:r>
              <a:rPr lang="en-US" sz="1100" dirty="0">
                <a:solidFill>
                  <a:schemeClr val="tx1"/>
                </a:solidFill>
              </a:rPr>
              <a:t>Plus d'évaluations grâce au code 3,5× plus rapide</a:t>
            </a:r>
            <a:endParaRPr lang="en-US" sz="1100" dirty="0"/>
          </a:p>
          <a:p>
            <a:pPr marL="342900" indent="-342900">
              <a:spcAft>
                <a:spcPts val="200"/>
              </a:spcAft>
              <a:buSzPct val="100000"/>
              <a:buChar char="•"/>
            </a:pPr>
            <a:r>
              <a:rPr lang="en-US" sz="1100" dirty="0">
                <a:solidFill>
                  <a:schemeClr val="tx1"/>
                </a:solidFill>
              </a:rPr>
              <a:t>Familles d'instances → choisir le décodeur</a:t>
            </a:r>
            <a:endParaRPr lang="en-US" sz="1100" dirty="0"/>
          </a:p>
        </p:txBody>
      </p:sp>
      <p:sp>
        <p:nvSpPr>
          <p:cNvPr id="12" name="swot_3"/>
          <p:cNvSpPr/>
          <p:nvPr/>
        </p:nvSpPr>
        <p:spPr>
          <a:xfrm>
            <a:off x="4617720" y="2834640"/>
            <a:ext cx="4069080" cy="1783080"/>
          </a:xfrm>
          <a:prstGeom prst="roundRect">
            <a:avLst>
              <a:gd name="adj" fmla="val 4103"/>
            </a:avLst>
          </a:prstGeom>
          <a:solidFill>
            <a:srgbClr val="EEF3F6"/>
          </a:solidFill>
          <a:ln w="12700">
            <a:solidFill>
              <a:srgbClr val="EEF3F6"/>
            </a:solidFill>
            <a:prstDash val="solid"/>
          </a:ln>
        </p:spPr>
      </p:sp>
      <p:sp>
        <p:nvSpPr>
          <p:cNvPr id="13" name="Text 11"/>
          <p:cNvSpPr txBox="1"/>
          <p:nvPr/>
        </p:nvSpPr>
        <p:spPr>
          <a:xfrm>
            <a:off x="4800600" y="2926080"/>
            <a:ext cx="3657600" cy="320040"/>
          </a:xfrm>
          <a:prstGeom prst="rect">
            <a:avLst/>
          </a:prstGeom>
          <a:noFill/>
          <a:ln/>
        </p:spPr>
        <p:txBody>
          <a:bodyPr wrap="square" lIns="0" tIns="0" rIns="0" bIns="0" rtlCol="0" anchor="t"/>
          <a:lstStyle/>
          <a:p>
            <a:pPr marL="0" indent="0">
              <a:buNone/>
            </a:pPr>
            <a:r>
              <a:rPr lang="en-US" sz="1500" b="1" dirty="0">
                <a:solidFill>
                  <a:srgbClr val="6B7A8F"/>
                </a:solidFill>
                <a:latin typeface="Cambria" pitchFamily="34" charset="0"/>
                <a:ea typeface="Cambria" pitchFamily="34" charset="-122"/>
                <a:cs typeface="Cambria" pitchFamily="34" charset="-120"/>
              </a:rPr>
              <a:t>Menaces</a:t>
            </a:r>
            <a:endParaRPr lang="en-US" sz="1500" dirty="0"/>
          </a:p>
        </p:txBody>
      </p:sp>
      <p:sp>
        <p:nvSpPr>
          <p:cNvPr id="14" name="Text 12"/>
          <p:cNvSpPr txBox="1"/>
          <p:nvPr/>
        </p:nvSpPr>
        <p:spPr>
          <a:xfrm>
            <a:off x="4800600" y="3291840"/>
            <a:ext cx="3749040" cy="12801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Seuils absolus : déc. 3 perd 87 % sur instance3</a:t>
            </a:r>
            <a:endParaRPr lang="en-US" sz="1100" dirty="0"/>
          </a:p>
          <a:p>
            <a:pPr marL="342900" indent="-342900">
              <a:spcAft>
                <a:spcPts val="200"/>
              </a:spcAft>
              <a:buSzPct val="100000"/>
              <a:buChar char="•"/>
            </a:pPr>
            <a:r>
              <a:rPr lang="en-US" sz="1100" dirty="0">
                <a:solidFill>
                  <a:schemeClr val="tx1"/>
                </a:solidFill>
              </a:rPr>
              <a:t>Mesures faussées sans +=, ou avec les décodages cachés (×3,5 de temps)</a:t>
            </a:r>
            <a:endParaRPr lang="en-US" sz="1100" dirty="0"/>
          </a:p>
          <a:p>
            <a:pPr marL="342900" indent="-342900">
              <a:spcAft>
                <a:spcPts val="200"/>
              </a:spcAft>
              <a:buSzPct val="100000"/>
              <a:buChar char="•"/>
            </a:pPr>
            <a:r>
              <a:rPr lang="en-US" sz="1100" dirty="0">
                <a:solidFill>
                  <a:schemeClr val="tx1"/>
                </a:solidFill>
              </a:rPr>
              <a:t>Écarts &lt; 1 % entre variantes : il faut plusieurs graines</a:t>
            </a:r>
            <a:endParaRPr lang="en-US" sz="1100" dirty="0"/>
          </a:p>
          <a:p>
            <a:pPr marL="342900" indent="-342900">
              <a:spcAft>
                <a:spcPts val="200"/>
              </a:spcAft>
              <a:buSzPct val="100000"/>
              <a:buChar char="•"/>
            </a:pPr>
            <a:r>
              <a:rPr lang="en-US" sz="1100" dirty="0">
                <a:solidFill>
                  <a:schemeClr val="tx1"/>
                </a:solidFill>
              </a:rPr>
              <a:t>Grandes instances (kittens) non testées faute de temps</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Ce qu'il reste à améliorer</a:t>
            </a:r>
            <a:endParaRPr lang="en-US" sz="2600" dirty="0"/>
          </a:p>
        </p:txBody>
      </p:sp>
      <p:sp>
        <p:nvSpPr>
          <p:cNvPr id="3" name="amelioration_0"/>
          <p:cNvSpPr/>
          <p:nvPr/>
        </p:nvSpPr>
        <p:spPr>
          <a:xfrm>
            <a:off x="457200" y="960120"/>
            <a:ext cx="4069080" cy="1691640"/>
          </a:xfrm>
          <a:prstGeom prst="roundRect">
            <a:avLst>
              <a:gd name="adj" fmla="val 4324"/>
            </a:avLst>
          </a:prstGeom>
          <a:solidFill>
            <a:srgbClr val="EEF3F6"/>
          </a:solidFill>
          <a:ln w="12700">
            <a:solidFill>
              <a:srgbClr val="EEF3F6"/>
            </a:solidFill>
            <a:prstDash val="solid"/>
          </a:ln>
        </p:spPr>
      </p:sp>
      <p:sp>
        <p:nvSpPr>
          <p:cNvPr id="4" name="Shape 2"/>
          <p:cNvSpPr/>
          <p:nvPr/>
        </p:nvSpPr>
        <p:spPr>
          <a:xfrm>
            <a:off x="640080" y="1143000"/>
            <a:ext cx="411480" cy="411480"/>
          </a:xfrm>
          <a:prstGeom prst="ellipse">
            <a:avLst/>
          </a:prstGeom>
          <a:solidFill>
            <a:srgbClr val="E07A3F"/>
          </a:solidFill>
          <a:ln w="12700">
            <a:solidFill>
              <a:srgbClr val="E07A3F"/>
            </a:solidFill>
            <a:prstDash val="solid"/>
          </a:ln>
        </p:spPr>
      </p:sp>
      <p:sp>
        <p:nvSpPr>
          <p:cNvPr id="5" name="Text 3"/>
          <p:cNvSpPr txBox="1"/>
          <p:nvPr/>
        </p:nvSpPr>
        <p:spPr>
          <a:xfrm>
            <a:off x="640080" y="11430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4"/>
          <p:cNvSpPr txBox="1"/>
          <p:nvPr/>
        </p:nvSpPr>
        <p:spPr>
          <a:xfrm>
            <a:off x="1188720" y="1161288"/>
            <a:ext cx="3200400" cy="384048"/>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Copier les vidéos populaires</a:t>
            </a:r>
            <a:endParaRPr lang="en-US" sz="1500" dirty="0"/>
          </a:p>
        </p:txBody>
      </p:sp>
      <p:sp>
        <p:nvSpPr>
          <p:cNvPr id="7" name="Text 5"/>
          <p:cNvSpPr txBox="1"/>
          <p:nvPr/>
        </p:nvSpPr>
        <p:spPr>
          <a:xfrm>
            <a:off x="640080" y="1691640"/>
            <a:ext cx="3703320" cy="868680"/>
          </a:xfrm>
          <a:prstGeom prst="rect">
            <a:avLst/>
          </a:prstGeom>
          <a:noFill/>
          <a:ln/>
        </p:spPr>
        <p:txBody>
          <a:bodyPr wrap="square" lIns="0" tIns="0" rIns="0" bIns="0" rtlCol="0" anchor="t"/>
          <a:lstStyle/>
          <a:p>
            <a:pPr marL="0" indent="0">
              <a:buNone/>
            </a:pPr>
            <a:r>
              <a:rPr lang="en-US" sz="1200" dirty="0">
                <a:solidFill>
                  <a:schemeClr val="tx1"/>
                </a:solidFill>
              </a:rPr>
              <a:t>Choisir à chaque étape entre une copie et une nouvelle vidéo au gain marginal par Mo (videos_worth_spreading : 28,6 % ; dejavu42 : 27 %).</a:t>
            </a:r>
            <a:endParaRPr lang="en-US" sz="1200" dirty="0"/>
          </a:p>
        </p:txBody>
      </p:sp>
      <p:sp>
        <p:nvSpPr>
          <p:cNvPr id="8" name="amelioration_1"/>
          <p:cNvSpPr/>
          <p:nvPr/>
        </p:nvSpPr>
        <p:spPr>
          <a:xfrm>
            <a:off x="4617720" y="960120"/>
            <a:ext cx="4069080" cy="1691640"/>
          </a:xfrm>
          <a:prstGeom prst="roundRect">
            <a:avLst>
              <a:gd name="adj" fmla="val 4324"/>
            </a:avLst>
          </a:prstGeom>
          <a:solidFill>
            <a:srgbClr val="EEF3F6"/>
          </a:solidFill>
          <a:ln w="12700">
            <a:solidFill>
              <a:srgbClr val="EEF3F6"/>
            </a:solidFill>
            <a:prstDash val="solid"/>
          </a:ln>
        </p:spPr>
      </p:sp>
      <p:sp>
        <p:nvSpPr>
          <p:cNvPr id="9" name="Shape 7"/>
          <p:cNvSpPr/>
          <p:nvPr/>
        </p:nvSpPr>
        <p:spPr>
          <a:xfrm>
            <a:off x="4800600" y="1143000"/>
            <a:ext cx="411480" cy="411480"/>
          </a:xfrm>
          <a:prstGeom prst="ellipse">
            <a:avLst/>
          </a:prstGeom>
          <a:solidFill>
            <a:srgbClr val="E07A3F"/>
          </a:solidFill>
          <a:ln w="12700">
            <a:solidFill>
              <a:srgbClr val="E07A3F"/>
            </a:solidFill>
            <a:prstDash val="solid"/>
          </a:ln>
        </p:spPr>
      </p:sp>
      <p:sp>
        <p:nvSpPr>
          <p:cNvPr id="10" name="Text 8"/>
          <p:cNvSpPr txBox="1"/>
          <p:nvPr/>
        </p:nvSpPr>
        <p:spPr>
          <a:xfrm>
            <a:off x="4800600" y="11430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9"/>
          <p:cNvSpPr txBox="1"/>
          <p:nvPr/>
        </p:nvSpPr>
        <p:spPr>
          <a:xfrm>
            <a:off x="5349240" y="1161288"/>
            <a:ext cx="3200400" cy="384048"/>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Seuils relatifs</a:t>
            </a:r>
            <a:endParaRPr lang="en-US" sz="1500" dirty="0"/>
          </a:p>
        </p:txBody>
      </p:sp>
      <p:sp>
        <p:nvSpPr>
          <p:cNvPr id="12" name="Text 10"/>
          <p:cNvSpPr txBox="1"/>
          <p:nvPr/>
        </p:nvSpPr>
        <p:spPr>
          <a:xfrm>
            <a:off x="4800600" y="1691640"/>
            <a:ext cx="3703320" cy="868680"/>
          </a:xfrm>
          <a:prstGeom prst="rect">
            <a:avLst/>
          </a:prstGeom>
          <a:noFill/>
          <a:ln/>
        </p:spPr>
        <p:txBody>
          <a:bodyPr wrap="square" lIns="0" tIns="0" rIns="0" bIns="0" rtlCol="0" anchor="t"/>
          <a:lstStyle/>
          <a:p>
            <a:pPr marL="0" indent="0">
              <a:buNone/>
            </a:pPr>
            <a:r>
              <a:rPr lang="en-US" sz="1200" dirty="0">
                <a:solidFill>
                  <a:schemeClr val="tx1"/>
                </a:solidFill>
              </a:rPr>
              <a:t>τ en fraction de l'utilité médiane, plage plus large que [0 ; 0,5] : sur instance1, τ = 10 donne déjà 98,7 % de la meilleure valeur connue.</a:t>
            </a:r>
            <a:endParaRPr lang="en-US" sz="1200" dirty="0"/>
          </a:p>
        </p:txBody>
      </p:sp>
      <p:sp>
        <p:nvSpPr>
          <p:cNvPr id="13" name="amelioration_2"/>
          <p:cNvSpPr/>
          <p:nvPr/>
        </p:nvSpPr>
        <p:spPr>
          <a:xfrm>
            <a:off x="457200" y="2834640"/>
            <a:ext cx="4069080" cy="1691640"/>
          </a:xfrm>
          <a:prstGeom prst="roundRect">
            <a:avLst>
              <a:gd name="adj" fmla="val 4324"/>
            </a:avLst>
          </a:prstGeom>
          <a:solidFill>
            <a:srgbClr val="EEF3F6"/>
          </a:solidFill>
          <a:ln w="12700">
            <a:solidFill>
              <a:srgbClr val="EEF3F6"/>
            </a:solidFill>
            <a:prstDash val="solid"/>
          </a:ln>
        </p:spPr>
      </p:sp>
      <p:sp>
        <p:nvSpPr>
          <p:cNvPr id="14" name="Shape 12"/>
          <p:cNvSpPr/>
          <p:nvPr/>
        </p:nvSpPr>
        <p:spPr>
          <a:xfrm>
            <a:off x="640080" y="3017520"/>
            <a:ext cx="411480" cy="411480"/>
          </a:xfrm>
          <a:prstGeom prst="ellipse">
            <a:avLst/>
          </a:prstGeom>
          <a:solidFill>
            <a:srgbClr val="E07A3F"/>
          </a:solidFill>
          <a:ln w="12700">
            <a:solidFill>
              <a:srgbClr val="E07A3F"/>
            </a:solidFill>
            <a:prstDash val="solid"/>
          </a:ln>
        </p:spPr>
      </p:sp>
      <p:sp>
        <p:nvSpPr>
          <p:cNvPr id="15" name="Text 13"/>
          <p:cNvSpPr txBox="1"/>
          <p:nvPr/>
        </p:nvSpPr>
        <p:spPr>
          <a:xfrm>
            <a:off x="640080" y="301752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 14"/>
          <p:cNvSpPr txBox="1"/>
          <p:nvPr/>
        </p:nvSpPr>
        <p:spPr>
          <a:xfrm>
            <a:off x="1188720" y="3035808"/>
            <a:ext cx="3200400" cy="384048"/>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Mesurer sans fausser</a:t>
            </a:r>
            <a:endParaRPr lang="en-US" sz="1500" dirty="0"/>
          </a:p>
        </p:txBody>
      </p:sp>
      <p:sp>
        <p:nvSpPr>
          <p:cNvPr id="17" name="Text 15"/>
          <p:cNvSpPr txBox="1"/>
          <p:nvPr/>
        </p:nvSpPr>
        <p:spPr>
          <a:xfrm>
            <a:off x="640080" y="3566160"/>
            <a:ext cx="3703320" cy="868680"/>
          </a:xfrm>
          <a:prstGeom prst="rect">
            <a:avLst/>
          </a:prstGeom>
          <a:noFill/>
          <a:ln/>
        </p:spPr>
        <p:txBody>
          <a:bodyPr wrap="square" lIns="0" tIns="0" rIns="0" bIns="0" rtlCol="0" anchor="t"/>
          <a:lstStyle/>
          <a:p>
            <a:pPr marL="0" indent="0">
              <a:buNone/>
            </a:pPr>
            <a:r>
              <a:rPr lang="en-US" sz="1200" dirty="0">
                <a:solidFill>
                  <a:schemeClr val="tx1"/>
                </a:solidFill>
              </a:rPr>
              <a:t>Garder += ; retirer les décodages cachés des statistiques (3,5× plus rapide, mêmes scores sur 90 runs sur 90).</a:t>
            </a:r>
            <a:endParaRPr lang="en-US" sz="1200" dirty="0"/>
          </a:p>
        </p:txBody>
      </p:sp>
      <p:sp>
        <p:nvSpPr>
          <p:cNvPr id="18" name="amelioration_3"/>
          <p:cNvSpPr/>
          <p:nvPr/>
        </p:nvSpPr>
        <p:spPr>
          <a:xfrm>
            <a:off x="4617720" y="2834640"/>
            <a:ext cx="4069080" cy="1691640"/>
          </a:xfrm>
          <a:prstGeom prst="roundRect">
            <a:avLst>
              <a:gd name="adj" fmla="val 4324"/>
            </a:avLst>
          </a:prstGeom>
          <a:solidFill>
            <a:srgbClr val="EEF3F6"/>
          </a:solidFill>
          <a:ln w="12700">
            <a:solidFill>
              <a:srgbClr val="EEF3F6"/>
            </a:solidFill>
            <a:prstDash val="solid"/>
          </a:ln>
        </p:spPr>
      </p:sp>
      <p:sp>
        <p:nvSpPr>
          <p:cNvPr id="19" name="Shape 17"/>
          <p:cNvSpPr/>
          <p:nvPr/>
        </p:nvSpPr>
        <p:spPr>
          <a:xfrm>
            <a:off x="4800600" y="3017520"/>
            <a:ext cx="411480" cy="411480"/>
          </a:xfrm>
          <a:prstGeom prst="ellipse">
            <a:avLst/>
          </a:prstGeom>
          <a:solidFill>
            <a:srgbClr val="E07A3F"/>
          </a:solidFill>
          <a:ln w="12700">
            <a:solidFill>
              <a:srgbClr val="E07A3F"/>
            </a:solidFill>
            <a:prstDash val="solid"/>
          </a:ln>
        </p:spPr>
      </p:sp>
      <p:sp>
        <p:nvSpPr>
          <p:cNvPr id="20" name="Text 18"/>
          <p:cNvSpPr txBox="1"/>
          <p:nvPr/>
        </p:nvSpPr>
        <p:spPr>
          <a:xfrm>
            <a:off x="4800600" y="301752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Text 19"/>
          <p:cNvSpPr txBox="1"/>
          <p:nvPr/>
        </p:nvSpPr>
        <p:spPr>
          <a:xfrm>
            <a:off x="5349240" y="3035808"/>
            <a:ext cx="3200400" cy="384048"/>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Explorer plus</a:t>
            </a:r>
            <a:endParaRPr lang="en-US" sz="1500" dirty="0"/>
          </a:p>
        </p:txBody>
      </p:sp>
      <p:sp>
        <p:nvSpPr>
          <p:cNvPr id="22" name="Text 20"/>
          <p:cNvSpPr txBox="1"/>
          <p:nvPr/>
        </p:nvSpPr>
        <p:spPr>
          <a:xfrm>
            <a:off x="4800600" y="3566160"/>
            <a:ext cx="3703320" cy="868680"/>
          </a:xfrm>
          <a:prstGeom prst="rect">
            <a:avLst/>
          </a:prstGeom>
          <a:noFill/>
          <a:ln/>
        </p:spPr>
        <p:txBody>
          <a:bodyPr wrap="square" lIns="0" tIns="0" rIns="0" bIns="0" rtlCol="0" anchor="t"/>
          <a:lstStyle/>
          <a:p>
            <a:pPr marL="0" indent="0">
              <a:buNone/>
            </a:pPr>
            <a:r>
              <a:rPr lang="en-US" sz="1200" dirty="0">
                <a:solidFill>
                  <a:schemeClr val="tx1"/>
                </a:solidFill>
              </a:rPr>
              <a:t>Le GA s'arrête après ~25 générations : population, mutation et arrêt (bloc 6) à régler avec plusieurs graines.</a:t>
            </a:r>
            <a:endParaRPr lang="en-US" sz="12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Annexe A : opérateurs du bloc 1 (initialisation)</a:t>
            </a:r>
            <a:endParaRPr lang="en-US" sz="2600" dirty="0"/>
          </a:p>
        </p:txBody>
      </p:sp>
      <p:graphicFrame>
        <p:nvGraphicFramePr>
          <p:cNvPr id="10" name="table_operateurs"/>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1874520"/>
        </p:xfrm>
        <a:graphic>
          <a:graphicData uri="http://schemas.openxmlformats.org/drawingml/2006/table">
            <a:tbl>
              <a:tblPr/>
              <a:tblGrid>
                <a:gridCol w="365760"/>
                <a:gridCol w="1463040"/>
                <a:gridCol w="3566160"/>
                <a:gridCol w="1280160"/>
                <a:gridCol w="1554480"/>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Opérateur</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Ce qu'il fait</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Complexité</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Résultat</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Utilité × bruit (moi)</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individu 1 = ordre par utilité ; les autres : utilité × e^U(−1,1), puis tri</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O(n log n)</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100,0 (gain GA +0,35 %)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Hasard pur</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mélange de Fisher-Yates des vidéos candidates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O(n)</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67,5 (gain GA +11,79 %)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Bruit additif</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utilité + N(0, 0,5 σ), puis tri</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O(n log n)</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99,8 (gain GA +0,45 %)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Densité</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même formule que 0 avec d'autres tirages (contrôle du bruit)</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O(n log n)</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99,9 (gain GA +0,27 %)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Mélange du début</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ordre par utilité, premier quart (k = n/4) mélangé</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O(n log n)</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99,9 (gain GA +1,14 %)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Hybride</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50 % type 0, 25 % type 2, 15 % type 4, 10 % hasard</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O(n log n)</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100,0 (gain GA +0,44 %)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Annexe B : opérateurs du bloc 5 (décodeur)</a:t>
            </a:r>
            <a:endParaRPr lang="en-US" sz="2600" dirty="0"/>
          </a:p>
        </p:txBody>
      </p:sp>
      <p:graphicFrame>
        <p:nvGraphicFramePr>
          <p:cNvPr id="11" name="table_operateurs"/>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2087880"/>
        </p:xfrm>
        <a:graphic>
          <a:graphicData uri="http://schemas.openxmlformats.org/drawingml/2006/table">
            <a:tbl>
              <a:tblPr/>
              <a:tblGrid>
                <a:gridCol w="365760"/>
                <a:gridCol w="1463040"/>
                <a:gridCol w="3566160"/>
                <a:gridCol w="1280160"/>
                <a:gridCol w="1554480"/>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Opérateur</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Ce qu'il fait</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Complexité</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Résultat</a:t>
                      </a:r>
                      <a:endParaRPr lang="en-US" sz="11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Glouton par tours (moi)</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chaque vidéo, dans l'ordre, va dans le cache où elle fait gagner le plus ; copies aux tours suivants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O((copies+1)·R·K)</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100,0 ; 11 194 µs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Marge 15 % + réparation</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un seul passage à 115 % de capacité, puis retrait du moins rentable ; aucune copie</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O(R·K + E·V + R·C)</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93,9 ; 11 792 µs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Centré caches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caches triés par demande, remplis dans l'ordre sans vérifier qui demande la vidéo</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O(ΣK·V + C·n + E·V + R·C)</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59,2 ; 26 790 µs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Seuils fixes (Thomas)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glouton + refus si gain/Mo &lt; 0,15 + réserve de 10 %</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O((copies+1)·R·K)</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89,6 ; 9 747 µs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0">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b="1" dirty="0">
                          <a:solidFill>
                            <a:srgbClr val="14324A"/>
                          </a:solidFill>
                          <a:latin typeface="Calibri" pitchFamily="34" charset="0"/>
                          <a:ea typeface="Calibri" pitchFamily="34" charset="-122"/>
                          <a:cs typeface="Calibri" pitchFamily="34" charset="-120"/>
                        </a:rPr>
                        <a:t>Seuils co-évolués (Thomas)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glouton + seuils ajoutés au chromosome (mélange, mutation ±0,025)</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O((copies+1)·R·K)</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1000" dirty="0">
                          <a:solidFill>
                            <a:srgbClr val="1B2333"/>
                          </a:solidFill>
                          <a:latin typeface="Calibri" pitchFamily="34" charset="0"/>
                          <a:ea typeface="Calibri" pitchFamily="34" charset="-122"/>
                          <a:cs typeface="Calibri" pitchFamily="34" charset="-120"/>
                        </a:rPr>
                        <a:t>100,0 ; 11 026 µs</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Annexe C : protocole expérimental</a:t>
            </a:r>
            <a:endParaRPr lang="en-US" sz="2600" dirty="0"/>
          </a:p>
        </p:txBody>
      </p:sp>
      <p:graphicFrame>
        <p:nvGraphicFramePr>
          <p:cNvPr id="12" name="table_instances"/>
          <p:cNvGraphicFramePr>
            <a:graphicFrameLocks noGrp="1"/>
          </p:cNvGraphicFramePr>
          <p:nvPr>
            <p:extLst>
              <p:ext uri="{D42A27DB-BD31-4B8C-83A1-F6EECF244321}">
                <p14:modId xmlns:p14="http://schemas.microsoft.com/office/powerpoint/2010/main" val="1579011935"/>
              </p:ext>
            </p:extLst>
          </p:nvPr>
        </p:nvGraphicFramePr>
        <p:xfrm>
          <a:off x="457200" y="914400"/>
          <a:ext cx="4754880" cy="2743200"/>
        </p:xfrm>
        <a:graphic>
          <a:graphicData uri="http://schemas.openxmlformats.org/drawingml/2006/table">
            <a:tbl>
              <a:tblPr/>
              <a:tblGrid>
                <a:gridCol w="2103120"/>
                <a:gridCol w="502920"/>
                <a:gridCol w="457200"/>
                <a:gridCol w="411480"/>
                <a:gridCol w="502920"/>
                <a:gridCol w="777240"/>
              </a:tblGrid>
              <a:tr h="27432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Instance</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R·K</a:t>
                      </a:r>
                      <a:endParaRPr lang="en-US" sz="100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me_at_the_zoo</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36</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261</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c_small_flat_sparse_lambda_02</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8 508</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c_small_skew_dense_lambda_08</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490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9 328</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c_small_flat_dense_dejavu_03</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50 000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c_small_skew_sparse_dejavu_05</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491</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17 520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c_medium_skew_dense_lambda_18</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3000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3000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661 019</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instance1</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6790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196</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6767</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202 225</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instance2</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4210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421</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4209</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308 050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instance3</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5010</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366</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99</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3679</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marL="0" indent="0">
                        <a:buNone/>
                      </a:pPr>
                      <a:r>
                        <a:rPr lang="en-US" sz="950" dirty="0">
                          <a:solidFill>
                            <a:srgbClr val="1B2333"/>
                          </a:solidFill>
                          <a:latin typeface="Calibri" pitchFamily="34" charset="0"/>
                          <a:ea typeface="Calibri" pitchFamily="34" charset="-122"/>
                          <a:cs typeface="Calibri" pitchFamily="34" charset="-120"/>
                        </a:rPr>
                        <a:t>644 614</a:t>
                      </a:r>
                      <a:endParaRPr lang="en-US" sz="950" dirty="0">
                        <a:latin typeface="Calibri" charset="0"/>
                        <a:ea typeface="Calibri" charset="0"/>
                        <a:cs typeface="Calibri" charset="0"/>
                      </a:endParaRPr>
                    </a:p>
                  </a:txBody>
                  <a:tcPr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bl>
          </a:graphicData>
        </a:graphic>
      </p:graphicFrame>
      <p:sp>
        <p:nvSpPr>
          <p:cNvPr id="4" name="Text 1"/>
          <p:cNvSpPr txBox="1"/>
          <p:nvPr/>
        </p:nvSpPr>
        <p:spPr>
          <a:xfrm>
            <a:off x="5440680" y="914400"/>
            <a:ext cx="3246120" cy="37490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rPr>
              <a:t>9 instances petites et représentatives (officielle, custom lambda/dejavu × flat/skew × sparse/dense, promo)</a:t>
            </a:r>
            <a:endParaRPr lang="en-US" sz="1150" dirty="0"/>
          </a:p>
          <a:p>
            <a:pPr marL="342900" indent="-342900">
              <a:spcAft>
                <a:spcPts val="500"/>
              </a:spcAft>
              <a:buSzPct val="100000"/>
              <a:buChar char="•"/>
            </a:pPr>
            <a:r>
              <a:rPr lang="en-US" sz="1150" dirty="0">
                <a:solidFill>
                  <a:schemeClr val="tx1"/>
                </a:solidFill>
              </a:rPr>
              <a:t>5 graines (1, 2, 3, 4, 42) par configuration ; 450 runs</a:t>
            </a:r>
            <a:endParaRPr lang="en-US" sz="1150" dirty="0"/>
          </a:p>
          <a:p>
            <a:pPr marL="342900" indent="-342900">
              <a:spcAft>
                <a:spcPts val="500"/>
              </a:spcAft>
              <a:buSzPct val="100000"/>
              <a:buChar char="•"/>
            </a:pPr>
            <a:r>
              <a:rPr lang="en-US" sz="1150" dirty="0">
                <a:solidFill>
                  <a:schemeClr val="tx1"/>
                </a:solidFill>
              </a:rPr>
              <a:t>Un bloc varie, tout le reste = 0 (baseline) ; GA : pop. 30, 50 gén. max, arrêt après 10 gén. sans progrès</a:t>
            </a:r>
            <a:endParaRPr lang="en-US" sz="1150" dirty="0"/>
          </a:p>
          <a:p>
            <a:pPr marL="342900" indent="-342900">
              <a:spcAft>
                <a:spcPts val="500"/>
              </a:spcAft>
              <a:buSzPct val="100000"/>
              <a:buChar char="•"/>
            </a:pPr>
            <a:r>
              <a:rPr lang="en-US" sz="1150" dirty="0">
                <a:solidFill>
                  <a:schemeClr val="tx1"/>
                </a:solidFill>
              </a:rPr>
              <a:t>Score recalculé par score.py (vérificateur indépendant) ; correction += appliquée</a:t>
            </a:r>
            <a:endParaRPr lang="en-US" sz="1150" dirty="0"/>
          </a:p>
          <a:p>
            <a:pPr marL="342900" indent="-342900">
              <a:spcAft>
                <a:spcPts val="500"/>
              </a:spcAft>
              <a:buSzPct val="100000"/>
              <a:buChar char="•"/>
            </a:pPr>
            <a:r>
              <a:rPr lang="en-US" sz="1150" dirty="0">
                <a:solidFill>
                  <a:schemeClr val="tx1"/>
                </a:solidFill>
              </a:rPr>
              <a:t>Écart significatif si |Δ moyenne| &gt; 2 × erreur type (≈ test de Welch à 95 %)</a:t>
            </a:r>
            <a:endParaRPr lang="en-US" sz="1150" dirty="0"/>
          </a:p>
          <a:p>
            <a:pPr marL="342900" indent="-342900">
              <a:spcAft>
                <a:spcPts val="500"/>
              </a:spcAft>
              <a:buSzPct val="100000"/>
              <a:buChar char="•"/>
            </a:pPr>
            <a:r>
              <a:rPr lang="en-US" sz="1150" dirty="0">
                <a:solidFill>
                  <a:schemeClr val="tx1"/>
                </a:solidFill>
              </a:rPr>
              <a:t>Version sans décodages cachés : mêmes résultats sur 90 runs sur 90, 3,5× plus rapide</a:t>
            </a:r>
            <a:endParaRPr lang="en-US" sz="11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Streaming caches">
  <a:themeElements>
    <a:clrScheme name="Streaming caches">
      <a:dk1>
        <a:srgbClr val="1B2333"/>
      </a:dk1>
      <a:lt1>
        <a:srgbClr val="FFFFFF"/>
      </a:lt1>
      <a:dk2>
        <a:srgbClr val="14324A"/>
      </a:dk2>
      <a:lt2>
        <a:srgbClr val="EEF3F6"/>
      </a:lt2>
      <a:accent1>
        <a:srgbClr val="0F7C8C"/>
      </a:accent1>
      <a:accent2>
        <a:srgbClr val="E07A3F"/>
      </a:accent2>
      <a:accent3>
        <a:srgbClr val="8DB8C2"/>
      </a:accent3>
      <a:accent4>
        <a:srgbClr val="B5485A"/>
      </a:accent4>
      <a:accent5>
        <a:srgbClr val="6B7A8F"/>
      </a:accent5>
      <a:accent6>
        <a:srgbClr val="F2C14E"/>
      </a:accent6>
      <a:hlink>
        <a:srgbClr val="0F7C8C"/>
      </a:hlink>
      <a:folHlink>
        <a:srgbClr val="6B7A8F"/>
      </a:folHlink>
    </a:clrScheme>
    <a:fontScheme name="Streaming cach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2985</Words>
  <Application>Microsoft Office PowerPoint</Application>
  <PresentationFormat>Affichage à l'écran (16:9)</PresentationFormat>
  <Paragraphs>330</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Cambria</vt:lpstr>
      <vt:lpstr>Streaming caches</vt:lpstr>
      <vt:lpstr>Avant → après : de la matrice aux ordres</vt:lpstr>
      <vt:lpstr>Mon apport : le glouton fait le grand saut</vt:lpstr>
      <vt:lpstr>Bloc 1 : partir de l'utilité est indispensable</vt:lpstr>
      <vt:lpstr>Bloc 5 : le glouton par tours reste la référence</vt:lpstr>
      <vt:lpstr>Bloc 5 : un bon seuil aide, selon l'instance</vt:lpstr>
      <vt:lpstr>Complexité : les formules vérifiées par la mesure</vt:lpstr>
      <vt:lpstr>Bilan SWOT de mes blocs (chaque point est mesuré)</vt:lpstr>
      <vt:lpstr>Ce qu'il reste à améliorer</vt:lpstr>
      <vt:lpstr>Annexe A : opérateurs du bloc 1 (initialisation)</vt:lpstr>
      <vt:lpstr>Annexe B : opérateurs du bloc 5 (décodeur)</vt:lpstr>
      <vt:lpstr>Annexe C : protocole expérimental</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Blocs 1 et 5 — initialisation et décodeur</dc:title>
  <dc:subject>PptxGenJS Presentation</dc:subject>
  <dc:creator>Rihem Ben Jabra</dc:creator>
  <cp:lastModifiedBy>PC</cp:lastModifiedBy>
  <cp:revision>2</cp:revision>
  <dcterms:created xsi:type="dcterms:W3CDTF">2026-10-10T20:04:23Z</dcterms:created>
  <dcterms:modified xsi:type="dcterms:W3CDTF">2026-10-10T23:14:39Z</dcterms:modified>
</cp:coreProperties>
</file>