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33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1AF6-18AD-8788-B5A7-F0DD6D12F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AA14B-D8BD-4A1B-E611-1E1AAA510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67434-71B3-4FD7-1701-8614ED34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21CC3-FF3D-6B48-DF78-5566507C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52303-7908-A4BE-FD60-4BC98199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229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0DB5-5831-E314-1540-3959C160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EB90-2ED7-8671-B8FC-63FD4B1EA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AFD5-745F-FF56-A68C-A6A703F39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6461-55A0-FF89-F915-15328AC7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405D1-EB34-8A32-0AB9-0316B344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615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FA22-8E23-4A14-0B8F-D1892497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89120-30D1-5EB0-73A8-BE5999C75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3C74B-5D21-565D-53B5-1C04074A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F205B-6957-1FFF-921F-157248A8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AEC6E-C1C2-6546-370C-87172670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731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8068-C2F2-E26B-75A4-407BC8E0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171C6-2003-A27A-7EB1-6D3BA495A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A2909-EEF1-A8F2-C3C7-21DE5FE6C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99877-DB2A-7613-05A7-135DFF54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DE3B0-58E8-3488-D2E8-39CD40E3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268FB-5F87-373A-EC57-FE20C8A0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5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5337-D857-0F97-FE86-0240D8CD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ECD78-A216-DB3D-C74D-3B435C87F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5E818-22F7-257A-55E9-CE32D0233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F79B6-3EB0-7791-5BDA-B5576CA6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87030-A1D0-ABA4-1A00-77DBC5CDF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1F3C6-4A34-F20E-2D94-F58A3535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B3713-EF9B-3ACE-84B8-E9748295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15186-7BCA-40E8-9D72-6EA8AF49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96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3A6-63A4-1641-D8B8-11ACC8AF0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4AF0A-EA05-2308-1BB2-A9159722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95A01-1AD5-C238-4E21-61C75A28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7BD31-6A7B-1FEE-6724-689D7FA6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95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69E46-3F2D-D0B2-D889-2C290B85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A611A-5851-8B28-942D-5FFE86DA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E2D8E-1D6E-ED6B-472E-426FB1DE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77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DF78-3FB4-4F71-87D7-4695506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2819E-1759-DBEB-4BF3-0E203FCB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0E9EB-D2DE-CE97-AC06-775E3EDAC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1B08C-3FA7-11DC-13F6-CAF5FF66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6FE0E-6E62-46F5-E5E4-9F3BC820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6629E-C1D9-CC96-1D86-7CEBE2E0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26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8603-B2DF-4778-97E8-FFE470F0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BD7CA-1065-942D-318D-9DA310901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CEC68-BC82-1453-8C49-7A3BD334B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43EF7-56B6-5B82-FCD2-3E25F5BB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6BE9B-8766-80A7-FBBF-17EC75C2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17FCF-A77C-FAF4-D0E1-C208BCB4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50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2C80-8F68-2CCB-E1BD-C62167E0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A6120-9653-3195-2F4A-56C710CB5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3733C-CB01-9A0D-0AD6-FE40A47E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8953F-9CA4-F8B8-F012-88617647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4AE34-D3B3-A2AF-1EFF-A1B84673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2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EBA1A-E31D-8140-4CE7-7FEACEE42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8F2EB-6D42-57B1-353F-767F44FCE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99A8A-4403-73AC-D166-199B7C8D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DD087-AFAD-3050-0331-54DCADDC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7E80-D73F-6ED2-45F4-7BDEB7EE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49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49D2A-00BC-C07B-BD32-2B1EC838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23F2F-DDA3-E7D8-9C62-469D837B2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1FBD3-1CD6-EBA7-23FD-746F9508C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F74C0-270D-409E-8B92-34AA0A187173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1F05-D3A0-5C28-8749-B581343EE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86E89-B3F9-690E-5A85-59B2C51BC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19BFA-2AF8-4764-A37C-B500DECDC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433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raphic 56">
            <a:extLst>
              <a:ext uri="{FF2B5EF4-FFF2-40B4-BE49-F238E27FC236}">
                <a16:creationId xmlns:a16="http://schemas.microsoft.com/office/drawing/2014/main" id="{93E13017-E57C-DE0C-89E8-831169C7A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798" t="28094" r="59119" b="39644"/>
          <a:stretch>
            <a:fillRect/>
          </a:stretch>
        </p:blipFill>
        <p:spPr>
          <a:xfrm>
            <a:off x="4059936" y="2504313"/>
            <a:ext cx="1557954" cy="1286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5E4BE0-5FA2-8C76-0A93-5E47A0DB7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11" y="129890"/>
            <a:ext cx="7666864" cy="880173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 err="1"/>
              <a:t>Genetic</a:t>
            </a:r>
            <a:r>
              <a:rPr lang="fr-FR" dirty="0"/>
              <a:t> </a:t>
            </a:r>
            <a:r>
              <a:rPr lang="fr-FR" dirty="0" err="1"/>
              <a:t>Algorithms</a:t>
            </a:r>
            <a:r>
              <a:rPr lang="fr-FR" dirty="0"/>
              <a:t> </a:t>
            </a:r>
            <a:r>
              <a:rPr lang="fr-FR" sz="1600" dirty="0" err="1"/>
              <a:t>library</a:t>
            </a:r>
            <a:r>
              <a:rPr lang="fr-FR" sz="1600" dirty="0"/>
              <a:t>: </a:t>
            </a:r>
            <a:r>
              <a:rPr lang="fr-FR" sz="1600" dirty="0" err="1"/>
              <a:t>openGA</a:t>
            </a:r>
            <a:endParaRPr lang="de-DE" sz="1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A2135-8BFF-8DFB-28D0-889C7C27D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12" y="831406"/>
            <a:ext cx="9144000" cy="357314"/>
          </a:xfrm>
        </p:spPr>
        <p:txBody>
          <a:bodyPr>
            <a:normAutofit/>
          </a:bodyPr>
          <a:lstStyle/>
          <a:p>
            <a:pPr algn="l"/>
            <a:r>
              <a:rPr lang="fr-FR" sz="1800" dirty="0"/>
              <a:t>Group B: Lang Thomas , Viale Jean-Jacques</a:t>
            </a:r>
            <a:endParaRPr lang="de-DE" sz="18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DD6E71B-53EA-3615-0426-901949B0B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8357" y="353523"/>
            <a:ext cx="552450" cy="552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4E0F9E-118F-32A0-E7C4-A2CF4832E855}"/>
                  </a:ext>
                </a:extLst>
              </p:cNvPr>
              <p:cNvSpPr txBox="1"/>
              <p:nvPr/>
            </p:nvSpPr>
            <p:spPr>
              <a:xfrm>
                <a:off x="7980807" y="306582"/>
                <a:ext cx="35423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2D Matrix: Caches (</a:t>
                </a:r>
                <a14:m>
                  <m:oMath xmlns:m="http://schemas.openxmlformats.org/officeDocument/2006/math">
                    <m:r>
                      <a:rPr lang="de-DE" i="1"/>
                      <m:t>𝐶</m:t>
                    </m:r>
                  </m:oMath>
                </a14:m>
                <a:r>
                  <a:rPr lang="fr-FR" dirty="0"/>
                  <a:t>) x </a:t>
                </a:r>
                <a:r>
                  <a:rPr lang="fr-FR" dirty="0" err="1"/>
                  <a:t>Videos</a:t>
                </a:r>
                <a:r>
                  <a:rPr lang="fr-FR" dirty="0"/>
                  <a:t> (</a:t>
                </a:r>
                <a14:m>
                  <m:oMath xmlns:m="http://schemas.openxmlformats.org/officeDocument/2006/math">
                    <m:r>
                      <a:rPr lang="de-DE" i="1"/>
                      <m:t>𝑉</m:t>
                    </m:r>
                  </m:oMath>
                </a14:m>
                <a:r>
                  <a:rPr lang="fr-FR" dirty="0"/>
                  <a:t>)</a:t>
                </a:r>
              </a:p>
              <a:p>
                <a:r>
                  <a:rPr lang="fr-FR" dirty="0" err="1"/>
                  <a:t>Vector</a:t>
                </a:r>
                <a:r>
                  <a:rPr lang="fr-FR" dirty="0"/>
                  <a:t>: </a:t>
                </a:r>
                <a:r>
                  <a:rPr lang="fr-FR" dirty="0" err="1"/>
                  <a:t>Used</a:t>
                </a:r>
                <a:r>
                  <a:rPr lang="fr-FR" dirty="0"/>
                  <a:t> </a:t>
                </a:r>
                <a:r>
                  <a:rPr lang="fr-FR" dirty="0" err="1"/>
                  <a:t>Capacity</a:t>
                </a:r>
                <a:endParaRPr lang="de-DE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4E0F9E-118F-32A0-E7C4-A2CF4832E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807" y="306582"/>
                <a:ext cx="3542316" cy="646331"/>
              </a:xfrm>
              <a:prstGeom prst="rect">
                <a:avLst/>
              </a:prstGeom>
              <a:blipFill>
                <a:blip r:embed="rId4"/>
                <a:stretch>
                  <a:fillRect l="-1377" t="-3774" r="-688" b="-1509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FF4BBE-8621-D928-E2C5-FA802D5D3C55}"/>
                  </a:ext>
                </a:extLst>
              </p:cNvPr>
              <p:cNvSpPr txBox="1"/>
              <p:nvPr/>
            </p:nvSpPr>
            <p:spPr>
              <a:xfrm>
                <a:off x="30505" y="1377153"/>
                <a:ext cx="2828163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1. Initialisation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Population size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/>
                      <m:t>𝑁</m:t>
                    </m:r>
                  </m:oMath>
                </a14:m>
                <a:r>
                  <a:rPr lang="fr-FR" sz="16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Uniform Random Initialization</a:t>
                </a:r>
              </a:p>
              <a:p>
                <a:endParaRPr lang="de-DE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FF4BBE-8621-D928-E2C5-FA802D5D3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" y="1377153"/>
                <a:ext cx="2828163" cy="1415772"/>
              </a:xfrm>
              <a:prstGeom prst="rect">
                <a:avLst/>
              </a:prstGeom>
              <a:blipFill>
                <a:blip r:embed="rId5"/>
                <a:stretch>
                  <a:fillRect l="-1724" t="-21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068CEE2-EA16-AF8D-5D5D-F62627182C3A}"/>
              </a:ext>
            </a:extLst>
          </p:cNvPr>
          <p:cNvSpPr txBox="1"/>
          <p:nvPr/>
        </p:nvSpPr>
        <p:spPr>
          <a:xfrm>
            <a:off x="30505" y="2690084"/>
            <a:ext cx="2650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2.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Objective Function 𝐹 given by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DB33C-9445-1589-198F-2EE63AAF3293}"/>
              </a:ext>
            </a:extLst>
          </p:cNvPr>
          <p:cNvSpPr txBox="1"/>
          <p:nvPr/>
        </p:nvSpPr>
        <p:spPr>
          <a:xfrm>
            <a:off x="7701535" y="1477737"/>
            <a:ext cx="2828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3. </a:t>
            </a:r>
            <a:r>
              <a:rPr lang="fr-FR" b="1" dirty="0" err="1"/>
              <a:t>Terminate</a:t>
            </a:r>
            <a:r>
              <a:rPr lang="fr-FR" b="1" dirty="0"/>
              <a:t>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Nbr of Generations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Stagnation detection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2477F8-17B7-0D48-1A97-61DA35A50C4E}"/>
                  </a:ext>
                </a:extLst>
              </p:cNvPr>
              <p:cNvSpPr txBox="1"/>
              <p:nvPr/>
            </p:nvSpPr>
            <p:spPr>
              <a:xfrm>
                <a:off x="9786000" y="2523974"/>
                <a:ext cx="237549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4. </a:t>
                </a:r>
                <a:r>
                  <a:rPr lang="fr-FR" b="1" dirty="0" err="1"/>
                  <a:t>Selection</a:t>
                </a:r>
                <a:endParaRPr lang="fr-FR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Offspring fraction (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de-DE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baseline="-25000" dirty="0"/>
                  <a:t>off</a:t>
                </a:r>
                <a:r>
                  <a:rPr lang="de-DE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Non Linear Rank Selection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2477F8-17B7-0D48-1A97-61DA35A50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000" y="2523974"/>
                <a:ext cx="2375494" cy="1477328"/>
              </a:xfrm>
              <a:prstGeom prst="rect">
                <a:avLst/>
              </a:prstGeom>
              <a:blipFill>
                <a:blip r:embed="rId6"/>
                <a:stretch>
                  <a:fillRect l="-2051" t="-1653" b="-6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4CCB7A1-FE57-0F04-3214-6E1EB48F29AE}"/>
              </a:ext>
            </a:extLst>
          </p:cNvPr>
          <p:cNvSpPr txBox="1"/>
          <p:nvPr/>
        </p:nvSpPr>
        <p:spPr>
          <a:xfrm>
            <a:off x="9816506" y="4096361"/>
            <a:ext cx="2375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5. Crossover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Uniform Coin-flip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D7135-5398-8CF8-866C-6A414286D777}"/>
              </a:ext>
            </a:extLst>
          </p:cNvPr>
          <p:cNvSpPr txBox="1"/>
          <p:nvPr/>
        </p:nvSpPr>
        <p:spPr>
          <a:xfrm>
            <a:off x="9816506" y="4905200"/>
            <a:ext cx="2375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6. Mutation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Mutation Prob.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Single Bit-Flip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F06345-BD74-5430-DBE1-56EFA2DDDA1A}"/>
              </a:ext>
            </a:extLst>
          </p:cNvPr>
          <p:cNvSpPr txBox="1"/>
          <p:nvPr/>
        </p:nvSpPr>
        <p:spPr>
          <a:xfrm>
            <a:off x="1800820" y="4250413"/>
            <a:ext cx="2650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7. </a:t>
            </a:r>
            <a:r>
              <a:rPr lang="fr-FR" b="1" dirty="0" err="1"/>
              <a:t>Selection</a:t>
            </a: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Elitism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Rank Based Selection</a:t>
            </a:r>
          </a:p>
        </p:txBody>
      </p:sp>
      <p:pic>
        <p:nvPicPr>
          <p:cNvPr id="48" name="Picture 47" descr="Two circular arrows - Free arrows icons">
            <a:extLst>
              <a:ext uri="{FF2B5EF4-FFF2-40B4-BE49-F238E27FC236}">
                <a16:creationId xmlns:a16="http://schemas.microsoft.com/office/drawing/2014/main" id="{E8C725DF-1D17-E815-EF2A-74EAC4BB7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796" y="3429000"/>
            <a:ext cx="1213860" cy="12138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DE7649-65ED-342B-AED7-F7F184F5DAEC}"/>
                  </a:ext>
                </a:extLst>
              </p:cNvPr>
              <p:cNvSpPr txBox="1"/>
              <p:nvPr/>
            </p:nvSpPr>
            <p:spPr>
              <a:xfrm>
                <a:off x="6519923" y="3666515"/>
                <a:ext cx="77628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Nbr Gens</a:t>
                </a:r>
              </a:p>
              <a:p>
                <a:pPr algn="ctr"/>
                <a:r>
                  <a:rPr lang="de-DE" dirty="0"/>
                  <a:t>(</a:t>
                </a:r>
                <a14:m>
                  <m:oMath xmlns:m="http://schemas.openxmlformats.org/officeDocument/2006/math">
                    <m:r>
                      <a:rPr lang="de-DE" i="1"/>
                      <m:t>𝐺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14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DE7649-65ED-342B-AED7-F7F184F5D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923" y="3666515"/>
                <a:ext cx="776288" cy="800219"/>
              </a:xfrm>
              <a:prstGeom prst="rect">
                <a:avLst/>
              </a:prstGeom>
              <a:blipFill>
                <a:blip r:embed="rId8"/>
                <a:stretch>
                  <a:fillRect t="-758" b="-113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Graphic 52">
            <a:extLst>
              <a:ext uri="{FF2B5EF4-FFF2-40B4-BE49-F238E27FC236}">
                <a16:creationId xmlns:a16="http://schemas.microsoft.com/office/drawing/2014/main" id="{88750807-D0C5-EA3C-305B-37DDCD6791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2202" b="72242"/>
          <a:stretch>
            <a:fillRect/>
          </a:stretch>
        </p:blipFill>
        <p:spPr>
          <a:xfrm>
            <a:off x="2858668" y="1390557"/>
            <a:ext cx="1201268" cy="110705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5CEA39C-1532-555B-08CA-F58D1F337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027" r="82015" b="41876"/>
          <a:stretch>
            <a:fillRect/>
          </a:stretch>
        </p:blipFill>
        <p:spPr>
          <a:xfrm>
            <a:off x="2858668" y="2494950"/>
            <a:ext cx="1213860" cy="120033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8E035276-DD06-F122-D1B1-925A5B7F3F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519" t="34895" r="30719" b="46031"/>
          <a:stretch>
            <a:fillRect/>
          </a:stretch>
        </p:blipFill>
        <p:spPr>
          <a:xfrm>
            <a:off x="5795882" y="2768849"/>
            <a:ext cx="1738773" cy="760735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BE32E11C-E8F0-E852-93C7-29B6450E4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0229" t="27926" b="39813"/>
          <a:stretch>
            <a:fillRect/>
          </a:stretch>
        </p:blipFill>
        <p:spPr>
          <a:xfrm>
            <a:off x="7598664" y="2504313"/>
            <a:ext cx="2009342" cy="1286665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3DC0B1AD-765F-7B33-4491-54A443499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3955" r="33961" b="64819"/>
          <a:stretch>
            <a:fillRect/>
          </a:stretch>
        </p:blipFill>
        <p:spPr>
          <a:xfrm>
            <a:off x="6500266" y="1383855"/>
            <a:ext cx="815603" cy="1403106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6B318A5-CC68-4C47-7546-BE6666DDF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2015" t="60949" b="15899"/>
          <a:stretch>
            <a:fillRect/>
          </a:stretch>
        </p:blipFill>
        <p:spPr>
          <a:xfrm>
            <a:off x="8397111" y="3810379"/>
            <a:ext cx="1213861" cy="92333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563A3EE2-0B36-8543-F7C0-04117C0F0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0038" t="83993"/>
          <a:stretch>
            <a:fillRect/>
          </a:stretch>
        </p:blipFill>
        <p:spPr>
          <a:xfrm>
            <a:off x="8923020" y="4733709"/>
            <a:ext cx="672394" cy="638391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E976F503-795D-7A25-9071-041F713D5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4305" t="79417" r="20811"/>
          <a:stretch>
            <a:fillRect/>
          </a:stretch>
        </p:blipFill>
        <p:spPr>
          <a:xfrm>
            <a:off x="6524341" y="4552111"/>
            <a:ext cx="1679535" cy="820907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DFC57F61-1EB2-1E24-8E11-6CA059547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592" t="71184" r="47519"/>
          <a:stretch>
            <a:fillRect/>
          </a:stretch>
        </p:blipFill>
        <p:spPr>
          <a:xfrm>
            <a:off x="4450990" y="4221920"/>
            <a:ext cx="1949809" cy="11492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F43EB58-D42F-E489-9EE3-62E94F6B33CD}"/>
                  </a:ext>
                </a:extLst>
              </p:cNvPr>
              <p:cNvSpPr txBox="1"/>
              <p:nvPr/>
            </p:nvSpPr>
            <p:spPr>
              <a:xfrm>
                <a:off x="0" y="6083223"/>
                <a:ext cx="121614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de-DE" sz="2800" smtClean="0"/>
                        <m:t>𝒪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𝑁𝑜𝑓𝑓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 ∗(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de-DE" sz="28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F43EB58-D42F-E489-9EE3-62E94F6B3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83223"/>
                <a:ext cx="1216149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Graphic 72">
            <a:extLst>
              <a:ext uri="{FF2B5EF4-FFF2-40B4-BE49-F238E27FC236}">
                <a16:creationId xmlns:a16="http://schemas.microsoft.com/office/drawing/2014/main" id="{EC32F601-EDFD-0095-3BB8-9B3251F79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1924" y="2612510"/>
            <a:ext cx="1125964" cy="153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5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9" grpId="0"/>
      <p:bldP spid="21" grpId="0"/>
      <p:bldP spid="23" grpId="0"/>
      <p:bldP spid="25" grpId="0"/>
      <p:bldP spid="27" grpId="0"/>
      <p:bldP spid="29" grpId="0"/>
      <p:bldP spid="49" grpId="0"/>
      <p:bldP spid="7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07BAE0B22194481902A1DDA9B60D0" ma:contentTypeVersion="5" ma:contentTypeDescription="Crée un document." ma:contentTypeScope="" ma:versionID="f65a56e5310f15cbdd43ee3e7708fdf1">
  <xsd:schema xmlns:xsd="http://www.w3.org/2001/XMLSchema" xmlns:xs="http://www.w3.org/2001/XMLSchema" xmlns:p="http://schemas.microsoft.com/office/2006/metadata/properties" xmlns:ns3="8879ac98-63a4-4021-9af6-50c0622ae7ce" targetNamespace="http://schemas.microsoft.com/office/2006/metadata/properties" ma:root="true" ma:fieldsID="2eb6ade009495a2cdd863478527b957f" ns3:_="">
    <xsd:import namespace="8879ac98-63a4-4021-9af6-50c0622ae7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79ac98-63a4-4021-9af6-50c0622ae7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79ac98-63a4-4021-9af6-50c0622ae7ce" xsi:nil="true"/>
  </documentManagement>
</p:properties>
</file>

<file path=customXml/itemProps1.xml><?xml version="1.0" encoding="utf-8"?>
<ds:datastoreItem xmlns:ds="http://schemas.openxmlformats.org/officeDocument/2006/customXml" ds:itemID="{BA08F581-FAA8-47DB-904F-2462EC39E1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79ac98-63a4-4021-9af6-50c0622ae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F9622A-4185-441A-A80B-2378767D85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E050C1-14D0-4DAA-A971-0025E2E0FFA0}">
  <ds:schemaRefs>
    <ds:schemaRef ds:uri="http://schemas.microsoft.com/office/2006/metadata/properties"/>
    <ds:schemaRef ds:uri="http://schemas.microsoft.com/office/infopath/2007/PartnerControls"/>
    <ds:schemaRef ds:uri="8879ac98-63a4-4021-9af6-50c0622ae7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Genetic Algorithms library: openGA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Lang</dc:creator>
  <cp:lastModifiedBy>Thomas Lang</cp:lastModifiedBy>
  <cp:revision>1</cp:revision>
  <dcterms:created xsi:type="dcterms:W3CDTF">2026-09-17T16:21:04Z</dcterms:created>
  <dcterms:modified xsi:type="dcterms:W3CDTF">2026-09-17T17:52:11Z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0x010100C5907BAE0B22194481902A1DDA9B60D0</vt:lpwstr>
  </property>
</Properties>
</file>