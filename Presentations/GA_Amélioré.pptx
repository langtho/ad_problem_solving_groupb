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vant → après" id="{27a18557-2927-0162-dc0b-48168d79fd14}">
          <p14:sldIdLst>
            <p14:sldId id="256"/>
            <p14:sldId id="2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324A"/>
                </a:solidFill>
                <a:latin typeface="+mn-lt"/>
              </a:defRPr>
            </a:pPr>
            <a:r>
              <a:rPr sz="1200" b="0" i="0" u="none" strike="noStrike">
                <a:solidFill>
                  <a:srgbClr val="14324A"/>
                </a:solidFill>
                <a:latin typeface="+mn-lt"/>
              </a:rPr>
              <a:t>% de la meilleure valeur connue de la promo (graine 42)</a:t>
            </a:r>
          </a:p>
        </c:rich>
      </c:tx>
      <c:layout/>
      <c:overlay val="0"/>
    </c:title>
    <c:autoTitleDeleted val="0"/>
    <c:plotArea>
      <c:layout/>
      <c:barChart>
        <c:barDir val="col"/>
        <c:grouping val="clustered"/>
        <c:varyColors val="0"/>
        <c:ser>
          <c:idx val="0"/>
          <c:order val="0"/>
          <c:tx>
            <c:strRef>
              <c:f>Sheet1!$B$1</c:f>
              <c:strCache>
                <c:ptCount val="1"/>
                <c:pt idx="0">
                  <c:v>GA matrice (avant)</c:v>
                </c:pt>
              </c:strCache>
            </c:strRef>
          </c:tx>
          <c:spPr>
            <a:solidFill>
              <a:srgbClr val="B5485A"/>
            </a:solidFill>
            <a:effectLst/>
          </c:spPr>
          <c:invertIfNegative val="0"/>
          <c:dLbls>
            <c:numFmt formatCode="#,##0" sourceLinked="0"/>
            <c:txPr>
              <a:bodyPr/>
              <a:lstStyle/>
              <a:p>
                <a:pPr>
                  <a:defRPr b="0" i="0" strike="noStrike" sz="900" u="none">
                    <a:solidFill>
                      <a:srgbClr val="1B2333"/>
                    </a:solidFill>
                    <a:latin typeface="+mn-lt"/>
                  </a:defRPr>
                </a:pPr>
              </a:p>
            </c:txPr>
            <c:showLegendKey val="0"/>
            <c:showVal val="0"/>
            <c:showCatName val="0"/>
            <c:showSerName val="0"/>
            <c:showPercent val="0"/>
            <c:showBubbleSize val="0"/>
            <c:showLeaderLines val="0"/>
          </c:dLbls>
          <c:cat>
            <c:multiLvlStrRef>
              <c:f>Sheet1!$A$2:$A$10</c:f>
              <c:multiLvlStrCache>
                <c:ptCount val="9"/>
                <c:lvl>
                  <c:pt idx="0">
                    <c:v>zoo</c:v>
                  </c:pt>
                  <c:pt idx="1">
                    <c:v>trending</c:v>
                  </c:pt>
                  <c:pt idx="2">
                    <c:v>videos_worth</c:v>
                  </c:pt>
                  <c:pt idx="3">
                    <c:v>kittens</c:v>
                  </c:pt>
                  <c:pt idx="4">
                    <c:v>instance1</c:v>
                  </c:pt>
                  <c:pt idx="5">
                    <c:v>instance2</c:v>
                  </c:pt>
                  <c:pt idx="6">
                    <c:v>dejavu42</c:v>
                  </c:pt>
                  <c:pt idx="7">
                    <c:v>ulambda42</c:v>
                  </c:pt>
                  <c:pt idx="8">
                    <c:v>ulambda_asym</c:v>
                  </c:pt>
                </c:lvl>
              </c:multiLvlStrCache>
            </c:multiLvlStrRef>
          </c:cat>
          <c:val>
            <c:numRef>
              <c:f>Sheet1!$B$2:$B$10</c:f>
              <c:numCache>
                <c:formatCode>General</c:formatCode>
                <c:ptCount val="9"/>
                <c:pt idx="0">
                  <c:v>55.4</c:v>
                </c:pt>
                <c:pt idx="1">
                  <c:v>65.5</c:v>
                </c:pt>
                <c:pt idx="2">
                  <c:v>7.7</c:v>
                </c:pt>
                <c:pt idx="3">
                  <c:v>49.6</c:v>
                </c:pt>
                <c:pt idx="4">
                  <c:v>41.6</c:v>
                </c:pt>
                <c:pt idx="5">
                  <c:v>69.5</c:v>
                </c:pt>
                <c:pt idx="6">
                  <c:v>3.3</c:v>
                </c:pt>
                <c:pt idx="7">
                  <c:v>17.8</c:v>
                </c:pt>
                <c:pt idx="8">
                  <c:v>47.1</c:v>
                </c:pt>
              </c:numCache>
            </c:numRef>
          </c:val>
        </c:ser>
        <c:ser>
          <c:idx val="1"/>
          <c:order val="1"/>
          <c:tx>
            <c:strRef>
              <c:f>Sheet1!$C$1</c:f>
              <c:strCache>
                <c:ptCount val="1"/>
                <c:pt idx="0">
                  <c:v>glouton seul</c:v>
                </c:pt>
              </c:strCache>
            </c:strRef>
          </c:tx>
          <c:spPr>
            <a:solidFill>
              <a:srgbClr val="8DB8C2"/>
            </a:solidFill>
            <a:effectLst/>
          </c:spPr>
          <c:invertIfNegative val="0"/>
          <c:dLbls>
            <c:numFmt formatCode="#,##0" sourceLinked="0"/>
            <c:txPr>
              <a:bodyPr/>
              <a:lstStyle/>
              <a:p>
                <a:pPr>
                  <a:defRPr b="0" i="0" strike="noStrike" sz="900" u="none">
                    <a:solidFill>
                      <a:srgbClr val="1B2333"/>
                    </a:solidFill>
                    <a:latin typeface="+mn-lt"/>
                  </a:defRPr>
                </a:pPr>
              </a:p>
            </c:txPr>
            <c:showLegendKey val="0"/>
            <c:showVal val="0"/>
            <c:showCatName val="0"/>
            <c:showSerName val="0"/>
            <c:showPercent val="0"/>
            <c:showBubbleSize val="0"/>
            <c:showLeaderLines val="0"/>
          </c:dLbls>
          <c:cat>
            <c:multiLvlStrRef>
              <c:f>Sheet1!$A$2:$A$10</c:f>
              <c:multiLvlStrCache>
                <c:ptCount val="9"/>
                <c:lvl>
                  <c:pt idx="0">
                    <c:v>zoo</c:v>
                  </c:pt>
                  <c:pt idx="1">
                    <c:v>trending</c:v>
                  </c:pt>
                  <c:pt idx="2">
                    <c:v>videos_worth</c:v>
                  </c:pt>
                  <c:pt idx="3">
                    <c:v>kittens</c:v>
                  </c:pt>
                  <c:pt idx="4">
                    <c:v>instance1</c:v>
                  </c:pt>
                  <c:pt idx="5">
                    <c:v>instance2</c:v>
                  </c:pt>
                  <c:pt idx="6">
                    <c:v>dejavu42</c:v>
                  </c:pt>
                  <c:pt idx="7">
                    <c:v>ulambda42</c:v>
                  </c:pt>
                  <c:pt idx="8">
                    <c:v>ulambda_asym</c:v>
                  </c:pt>
                </c:lvl>
              </c:multiLvlStrCache>
            </c:multiLvlStrRef>
          </c:cat>
          <c:val>
            <c:numRef>
              <c:f>Sheet1!$C$2:$C$10</c:f>
              <c:numCache>
                <c:formatCode>General</c:formatCode>
                <c:ptCount val="9"/>
                <c:pt idx="0">
                  <c:v>89.1</c:v>
                </c:pt>
                <c:pt idx="1">
                  <c:v>100</c:v>
                </c:pt>
                <c:pt idx="2">
                  <c:v>28.6</c:v>
                </c:pt>
                <c:pt idx="3">
                  <c:v>99.9</c:v>
                </c:pt>
                <c:pt idx="4">
                  <c:v>95.5</c:v>
                </c:pt>
                <c:pt idx="5">
                  <c:v>96.6</c:v>
                </c:pt>
                <c:pt idx="6">
                  <c:v>27</c:v>
                </c:pt>
                <c:pt idx="7">
                  <c:v>70.5</c:v>
                </c:pt>
                <c:pt idx="8">
                  <c:v>99.9</c:v>
                </c:pt>
              </c:numCache>
            </c:numRef>
          </c:val>
        </c:ser>
        <c:ser>
          <c:idx val="2"/>
          <c:order val="2"/>
          <c:tx>
            <c:strRef>
              <c:f>Sheet1!$D$1</c:f>
              <c:strCache>
                <c:ptCount val="1"/>
                <c:pt idx="0">
                  <c:v>GA ordres + glouton</c:v>
                </c:pt>
              </c:strCache>
            </c:strRef>
          </c:tx>
          <c:spPr>
            <a:solidFill>
              <a:srgbClr val="0F7C8C"/>
            </a:solidFill>
            <a:effectLst/>
          </c:spPr>
          <c:invertIfNegative val="0"/>
          <c:dLbls>
            <c:numFmt formatCode="#,##0" sourceLinked="0"/>
            <c:txPr>
              <a:bodyPr/>
              <a:lstStyle/>
              <a:p>
                <a:pPr>
                  <a:defRPr b="0" i="0" strike="noStrike" sz="900" u="none">
                    <a:solidFill>
                      <a:srgbClr val="1B2333"/>
                    </a:solidFill>
                    <a:latin typeface="+mn-lt"/>
                  </a:defRPr>
                </a:pPr>
              </a:p>
            </c:txPr>
            <c:showLegendKey val="0"/>
            <c:showVal val="0"/>
            <c:showCatName val="0"/>
            <c:showSerName val="0"/>
            <c:showPercent val="0"/>
            <c:showBubbleSize val="0"/>
            <c:showLeaderLines val="0"/>
          </c:dLbls>
          <c:cat>
            <c:multiLvlStrRef>
              <c:f>Sheet1!$A$2:$A$10</c:f>
              <c:multiLvlStrCache>
                <c:ptCount val="9"/>
                <c:lvl>
                  <c:pt idx="0">
                    <c:v>zoo</c:v>
                  </c:pt>
                  <c:pt idx="1">
                    <c:v>trending</c:v>
                  </c:pt>
                  <c:pt idx="2">
                    <c:v>videos_worth</c:v>
                  </c:pt>
                  <c:pt idx="3">
                    <c:v>kittens</c:v>
                  </c:pt>
                  <c:pt idx="4">
                    <c:v>instance1</c:v>
                  </c:pt>
                  <c:pt idx="5">
                    <c:v>instance2</c:v>
                  </c:pt>
                  <c:pt idx="6">
                    <c:v>dejavu42</c:v>
                  </c:pt>
                  <c:pt idx="7">
                    <c:v>ulambda42</c:v>
                  </c:pt>
                  <c:pt idx="8">
                    <c:v>ulambda_asym</c:v>
                  </c:pt>
                </c:lvl>
              </c:multiLvlStrCache>
            </c:multiLvlStrRef>
          </c:cat>
          <c:val>
            <c:numRef>
              <c:f>Sheet1!$D$2:$D$10</c:f>
              <c:numCache>
                <c:formatCode>General</c:formatCode>
                <c:ptCount val="9"/>
                <c:pt idx="0">
                  <c:v>97.1</c:v>
                </c:pt>
                <c:pt idx="1">
                  <c:v>100</c:v>
                </c:pt>
                <c:pt idx="2">
                  <c:v>29</c:v>
                </c:pt>
                <c:pt idx="3">
                  <c:v>99.9</c:v>
                </c:pt>
                <c:pt idx="4">
                  <c:v>95.6</c:v>
                </c:pt>
                <c:pt idx="5">
                  <c:v>96.7</c:v>
                </c:pt>
                <c:pt idx="6">
                  <c:v>27.1</c:v>
                </c:pt>
                <c:pt idx="7">
                  <c:v>70.5</c:v>
                </c:pt>
                <c:pt idx="8">
                  <c:v>100</c:v>
                </c:pt>
              </c:numCache>
            </c:numRef>
          </c:val>
        </c:ser>
        <c:dLbls>
          <c:numFmt formatCode="#,##0" sourceLinked="0"/>
          <c:txPr>
            <a:bodyPr/>
            <a:lstStyle/>
            <a:p>
              <a:pPr>
                <a:defRPr b="0" i="0" strike="noStrike" sz="900" u="none">
                  <a:solidFill>
                    <a:srgbClr val="1B2333"/>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4324A"/>
                </a:solidFill>
                <a:latin typeface="+mn-lt"/>
              </a:defRPr>
            </a:pPr>
            <a:endParaRPr lang="en-US"/>
          </a:p>
        </c:txPr>
        <c:crossAx val="2094734552"/>
        <c:crosses val="autoZero"/>
        <c:auto val="1"/>
        <c:lblAlgn val="ctr"/>
        <c:noMultiLvlLbl val="1"/>
      </c:catAx>
      <c:valAx>
        <c:axId val="2094734552"/>
        <c:scaling>
          <c:orientation val="minMax"/>
          <c:max val="105"/>
          <c:min val="0"/>
        </c:scaling>
        <c:delete val="0"/>
        <c:axPos val="l"/>
        <c:majorGridlines>
          <c:spPr>
            <a:ln w="6350" cap="flat">
              <a:solidFill>
                <a:srgbClr val="D9E1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A8F"/>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schéma du pitch initial, étape par étape, avec ce qui a changé en couleur. Le plus important est la représentation : avant, un individu était une matrice caches × vidéos ; maintenant, c'est un ordre de vidéos utiles, et un glouton transforme cet ordre en solution valide. Trois étapes changent avec la représentation : l'initialisation part de l'utilité de chaque vidéo au lieu du hasard, le croisement OX1 garde un ordre valide, et la mutation échange deux vidéos. L'arrêt, la sélection et l'élitisme d'openGA sont inchangés. En bas, la complexité : le pitch annonçait E·V·C par évaluation ; en lisant le code, l'évaluation saute les paires sans requête, donc E·V + R·C. Le glouton coûte (copies + 1) · R · K, et j'ai vérifié cette formule en mesurant le temps sur 9 instances.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preuves, sur les 11 instances, toutes re-notées par mon vérificateur indépendant. Le graphique compare l'ancien GA sur matrice, mon glouton seul, et le GA sur ordres avec le glouton. Le saut vient du glouton ; le GA ajoute un petit gain. Sur universallambda42 asymétrique, on atteint 100,03 % de la meilleure valeur de la promo. La faiblesse restante est videos_worth_spreading, à 29,0 % : les vidéos populaires n'y sont pas assez copiées. Le tableau décrit les solutions : avant, 31,8 % des copies ne servaient à rien, soit 29,0 % de la capacité gaspillée ; après, 0,4 %. Les requêtes servies par un cache passent de 37,8 % à 66,5 %. Le remplissage était plus haut avant, 95,1 % contre 92,7 % : un cache plein n'est pas forcément un bon cache. Entre le meilleur individu initial et le meilleur final, le GA n'ajoute que 0,35 % : c'est le départ par utilité qui fait l'essentiel. Enfin, le coût d'une évaluation reste du même ordre qu'avant, entre 0,13 et 2,26 fois selon l'instance : on n'a pas gagné en vitesse, on a gagné en qualité.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lstStyle>
            <a:lvl1pPr indent="0" marL="0">
              <a:buNone/>
              <a:defRPr lang="en-US" sz="2600" b="1" dirty="0">
                <a:solidFill>
                  <a:schemeClr val="tx2"/>
                </a:solidFill>
                <a:latin typeface="Cambria" pitchFamily="34" charset="0"/>
                <a:ea typeface="Cambria" pitchFamily="34" charset="-122"/>
                <a:cs typeface="Cambria" pitchFamily="34" charset="-120"/>
              </a:defRPr>
            </a:lvl1pPr>
          </a:lstStyle>
          <a:p>
            <a:pPr indent="0" marL="0">
              <a:buNone/>
            </a:pPr>
            <a:endParaRPr lang="en-US" sz="2600" dirty="0"/>
          </a:p>
        </p:txBody>
      </p:sp>
      <p:sp>
        <p:nvSpPr>
          <p:cNvPr id="3" name="Text 0"/>
          <p:cNvSpPr/>
          <p:nvPr/>
        </p:nvSpPr>
        <p:spPr>
          <a:xfrm>
            <a:off x="457200" y="4828032"/>
            <a:ext cx="6858000" cy="228600"/>
          </a:xfrm>
          <a:prstGeom prst="rect">
            <a:avLst/>
          </a:prstGeom>
          <a:noFill/>
          <a:ln/>
        </p:spPr>
        <p:txBody>
          <a:bodyPr wrap="square" lIns="0" tIns="0" rIns="0" bIns="0" rtlCol="0" anchor="ctr"/>
          <a:lstStyle/>
          <a:p>
            <a:pPr indent="0" marL="0">
              <a:buNone/>
            </a:pPr>
            <a:r>
              <a:rPr lang="en-US" sz="900" dirty="0">
                <a:solidFill>
                  <a:schemeClr val="accent5"/>
                </a:solidFill>
              </a:rPr>
              <a:t>Groupe B — Rihem Ben Jabra — blocs 1 (initialisation) et 5 (décodeur)</a:t>
            </a:r>
            <a:endParaRPr lang="en-US" sz="9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Genetic Algorithms : ce qui a changé</a:t>
            </a:r>
            <a:endParaRPr lang="en-US" sz="2600" dirty="0"/>
          </a:p>
        </p:txBody>
      </p:sp>
      <p:sp>
        <p:nvSpPr>
          <p:cNvPr id="3" name="Text 1"/>
          <p:cNvSpPr txBox="1"/>
          <p:nvPr/>
        </p:nvSpPr>
        <p:spPr>
          <a:xfrm>
            <a:off x="457200" y="804672"/>
            <a:ext cx="8229600" cy="228600"/>
          </a:xfrm>
          <a:prstGeom prst="rect">
            <a:avLst/>
          </a:prstGeom>
          <a:noFill/>
          <a:ln/>
        </p:spPr>
        <p:txBody>
          <a:bodyPr wrap="square" lIns="0" tIns="0" rIns="0" bIns="0" rtlCol="0" anchor="t"/>
          <a:lstStyle/>
          <a:p>
            <a:pPr indent="0" marL="0">
              <a:buNone/>
            </a:pPr>
            <a:r>
              <a:rPr lang="en-US" sz="1000" dirty="0">
                <a:solidFill>
                  <a:schemeClr val="accent5"/>
                </a:solidFill>
              </a:rPr>
              <a:t>Groupe B : Lang Thomas, Viale Jean-Jacques, Ben Jabra Rihem — library openGA (gris = pitch initial, couleur = aujourd'hui)</a:t>
            </a:r>
            <a:endParaRPr lang="en-US" sz="1000" dirty="0"/>
          </a:p>
        </p:txBody>
      </p:sp>
      <p:sp>
        <p:nvSpPr>
          <p:cNvPr id="4" name="etape1"/>
          <p:cNvSpPr/>
          <p:nvPr/>
        </p:nvSpPr>
        <p:spPr>
          <a:xfrm>
            <a:off x="457200" y="1097280"/>
            <a:ext cx="2423160" cy="914400"/>
          </a:xfrm>
          <a:prstGeom prst="roundRect">
            <a:avLst>
              <a:gd name="adj" fmla="val 8000"/>
            </a:avLst>
          </a:prstGeom>
          <a:solidFill>
            <a:srgbClr val="EEF3F6"/>
          </a:solidFill>
          <a:ln w="12700">
            <a:solidFill>
              <a:srgbClr val="EEF3F6"/>
            </a:solidFill>
            <a:prstDash val="solid"/>
          </a:ln>
        </p:spPr>
      </p:sp>
      <p:sp>
        <p:nvSpPr>
          <p:cNvPr id="5" name="Text 3"/>
          <p:cNvSpPr txBox="1"/>
          <p:nvPr/>
        </p:nvSpPr>
        <p:spPr>
          <a:xfrm>
            <a:off x="548640" y="1152144"/>
            <a:ext cx="2240280" cy="822960"/>
          </a:xfrm>
          <a:prstGeom prst="rect">
            <a:avLst/>
          </a:prstGeom>
          <a:noFill/>
          <a:ln/>
        </p:spPr>
        <p:txBody>
          <a:bodyPr wrap="square" lIns="0" tIns="0" rIns="0" bIns="0" rtlCol="0" anchor="t"/>
          <a:lstStyle/>
          <a:p>
            <a:pPr indent="0" marL="0">
              <a:buNone/>
            </a:pPr>
            <a:r>
              <a:rPr lang="en-US" sz="1200" b="1" dirty="0">
                <a:solidFill>
                  <a:srgbClr val="14324A"/>
                </a:solidFill>
              </a:rPr>
              <a:t>1. Initialisation</a:t>
            </a:r>
            <a:endParaRPr lang="en-US" sz="1000" dirty="0"/>
          </a:p>
          <a:p>
            <a:pPr indent="0" marL="0">
              <a:buNone/>
            </a:pPr>
            <a:r>
              <a:rPr lang="en-US" sz="1000" dirty="0">
                <a:solidFill>
                  <a:srgbClr val="8A8A8A"/>
                </a:solidFill>
              </a:rPr>
              <a:t>aléatoire uniforme (25 %) : O(N · C·V)</a:t>
            </a:r>
            <a:endParaRPr lang="en-US" sz="1000" dirty="0"/>
          </a:p>
          <a:p>
            <a:pPr indent="0" marL="0">
              <a:buNone/>
            </a:pPr>
            <a:r>
              <a:rPr lang="en-US" sz="1000" b="1" dirty="0">
                <a:solidFill>
                  <a:srgbClr val="0F7C8C"/>
                </a:solidFill>
              </a:rPr>
              <a:t>ordre par utilité × bruit : O(N · n log n)</a:t>
            </a:r>
            <a:endParaRPr lang="en-US" sz="1000" dirty="0"/>
          </a:p>
        </p:txBody>
      </p:sp>
      <p:sp>
        <p:nvSpPr>
          <p:cNvPr id="6" name="etape2"/>
          <p:cNvSpPr/>
          <p:nvPr/>
        </p:nvSpPr>
        <p:spPr>
          <a:xfrm>
            <a:off x="457200" y="2103120"/>
            <a:ext cx="2423160" cy="914400"/>
          </a:xfrm>
          <a:prstGeom prst="roundRect">
            <a:avLst>
              <a:gd name="adj" fmla="val 8000"/>
            </a:avLst>
          </a:prstGeom>
          <a:solidFill>
            <a:srgbClr val="EEF3F6"/>
          </a:solidFill>
          <a:ln w="12700">
            <a:solidFill>
              <a:srgbClr val="EEF3F6"/>
            </a:solidFill>
            <a:prstDash val="solid"/>
          </a:ln>
        </p:spPr>
      </p:sp>
      <p:sp>
        <p:nvSpPr>
          <p:cNvPr id="7" name="Text 5"/>
          <p:cNvSpPr txBox="1"/>
          <p:nvPr/>
        </p:nvSpPr>
        <p:spPr>
          <a:xfrm>
            <a:off x="548640" y="2157984"/>
            <a:ext cx="2240280" cy="822960"/>
          </a:xfrm>
          <a:prstGeom prst="rect">
            <a:avLst/>
          </a:prstGeom>
          <a:noFill/>
          <a:ln/>
        </p:spPr>
        <p:txBody>
          <a:bodyPr wrap="square" lIns="0" tIns="0" rIns="0" bIns="0" rtlCol="0" anchor="t"/>
          <a:lstStyle/>
          <a:p>
            <a:pPr indent="0" marL="0">
              <a:buNone/>
            </a:pPr>
            <a:r>
              <a:rPr lang="en-US" sz="1200" b="1" dirty="0">
                <a:solidFill>
                  <a:srgbClr val="14324A"/>
                </a:solidFill>
              </a:rPr>
              <a:t>2. Évaluation F</a:t>
            </a:r>
            <a:endParaRPr lang="en-US" sz="1000" dirty="0"/>
          </a:p>
          <a:p>
            <a:pPr indent="0" marL="0">
              <a:buNone/>
            </a:pPr>
            <a:r>
              <a:rPr lang="en-US" sz="1000" dirty="0">
                <a:solidFill>
                  <a:srgbClr val="8A8A8A"/>
                </a:solidFill>
              </a:rPr>
              <a:t>matrice : O(E·V + R·C)</a:t>
            </a:r>
            <a:endParaRPr lang="en-US" sz="1000" dirty="0"/>
          </a:p>
          <a:p>
            <a:pPr indent="0" marL="0">
              <a:buNone/>
            </a:pPr>
            <a:r>
              <a:rPr lang="en-US" sz="1000" b="1" dirty="0">
                <a:solidFill>
                  <a:srgbClr val="0F7C8C"/>
                </a:solidFill>
              </a:rPr>
              <a:t>glouton décodeur : O((copies+1) · R · K)</a:t>
            </a:r>
            <a:endParaRPr lang="en-US" sz="1000" dirty="0"/>
          </a:p>
        </p:txBody>
      </p:sp>
      <p:sp>
        <p:nvSpPr>
          <p:cNvPr id="8" name="etape7"/>
          <p:cNvSpPr/>
          <p:nvPr/>
        </p:nvSpPr>
        <p:spPr>
          <a:xfrm>
            <a:off x="457200" y="3108960"/>
            <a:ext cx="2423160" cy="777240"/>
          </a:xfrm>
          <a:prstGeom prst="roundRect">
            <a:avLst>
              <a:gd name="adj" fmla="val 9412"/>
            </a:avLst>
          </a:prstGeom>
          <a:solidFill>
            <a:srgbClr val="F7F7F7"/>
          </a:solidFill>
          <a:ln w="12700">
            <a:solidFill>
              <a:srgbClr val="F7F7F7"/>
            </a:solidFill>
            <a:prstDash val="solid"/>
          </a:ln>
        </p:spPr>
      </p:sp>
      <p:sp>
        <p:nvSpPr>
          <p:cNvPr id="9" name="Text 7"/>
          <p:cNvSpPr txBox="1"/>
          <p:nvPr/>
        </p:nvSpPr>
        <p:spPr>
          <a:xfrm>
            <a:off x="548640" y="3163824"/>
            <a:ext cx="2240280" cy="685800"/>
          </a:xfrm>
          <a:prstGeom prst="rect">
            <a:avLst/>
          </a:prstGeom>
          <a:noFill/>
          <a:ln/>
        </p:spPr>
        <p:txBody>
          <a:bodyPr wrap="square" lIns="0" tIns="0" rIns="0" bIns="0" rtlCol="0" anchor="t"/>
          <a:lstStyle/>
          <a:p>
            <a:pPr indent="0" marL="0">
              <a:buNone/>
            </a:pPr>
            <a:r>
              <a:rPr lang="en-US" sz="1200" b="1" dirty="0">
                <a:solidFill>
                  <a:srgbClr val="14324A"/>
                </a:solidFill>
              </a:rPr>
              <a:t>7. Remplacement</a:t>
            </a:r>
            <a:endParaRPr lang="en-US" sz="1000" dirty="0"/>
          </a:p>
          <a:p>
            <a:pPr indent="0" marL="0">
              <a:buNone/>
            </a:pPr>
            <a:r>
              <a:rPr lang="en-US" sz="1000" dirty="0">
                <a:solidFill>
                  <a:srgbClr val="6B7A8F"/>
                </a:solidFill>
              </a:rPr>
              <a:t>inchangé : élitisme (2)</a:t>
            </a:r>
            <a:endParaRPr lang="en-US" sz="1000" dirty="0"/>
          </a:p>
        </p:txBody>
      </p:sp>
      <p:sp>
        <p:nvSpPr>
          <p:cNvPr id="10" name="etape3"/>
          <p:cNvSpPr/>
          <p:nvPr/>
        </p:nvSpPr>
        <p:spPr>
          <a:xfrm>
            <a:off x="6263640" y="1097280"/>
            <a:ext cx="2423160" cy="640080"/>
          </a:xfrm>
          <a:prstGeom prst="roundRect">
            <a:avLst>
              <a:gd name="adj" fmla="val 11429"/>
            </a:avLst>
          </a:prstGeom>
          <a:solidFill>
            <a:srgbClr val="F7F7F7"/>
          </a:solidFill>
          <a:ln w="12700">
            <a:solidFill>
              <a:srgbClr val="F7F7F7"/>
            </a:solidFill>
            <a:prstDash val="solid"/>
          </a:ln>
        </p:spPr>
      </p:sp>
      <p:sp>
        <p:nvSpPr>
          <p:cNvPr id="11" name="Text 9"/>
          <p:cNvSpPr txBox="1"/>
          <p:nvPr/>
        </p:nvSpPr>
        <p:spPr>
          <a:xfrm>
            <a:off x="6355080" y="1152144"/>
            <a:ext cx="2240280" cy="548640"/>
          </a:xfrm>
          <a:prstGeom prst="rect">
            <a:avLst/>
          </a:prstGeom>
          <a:noFill/>
          <a:ln/>
        </p:spPr>
        <p:txBody>
          <a:bodyPr wrap="square" lIns="0" tIns="0" rIns="0" bIns="0" rtlCol="0" anchor="t"/>
          <a:lstStyle/>
          <a:p>
            <a:pPr indent="0" marL="0">
              <a:buNone/>
            </a:pPr>
            <a:r>
              <a:rPr lang="en-US" sz="1200" b="1" dirty="0">
                <a:solidFill>
                  <a:srgbClr val="14324A"/>
                </a:solidFill>
              </a:rPr>
              <a:t>3. Arrêt</a:t>
            </a:r>
            <a:endParaRPr lang="en-US" sz="1000" dirty="0"/>
          </a:p>
          <a:p>
            <a:pPr indent="0" marL="0">
              <a:buNone/>
            </a:pPr>
            <a:r>
              <a:rPr lang="en-US" sz="1000" dirty="0">
                <a:solidFill>
                  <a:srgbClr val="6B7A8F"/>
                </a:solidFill>
              </a:rPr>
              <a:t>inchangé : 50 gén., stagnation 10</a:t>
            </a:r>
            <a:endParaRPr lang="en-US" sz="1000" dirty="0"/>
          </a:p>
        </p:txBody>
      </p:sp>
      <p:sp>
        <p:nvSpPr>
          <p:cNvPr id="12" name="etape4"/>
          <p:cNvSpPr/>
          <p:nvPr/>
        </p:nvSpPr>
        <p:spPr>
          <a:xfrm>
            <a:off x="6263640" y="1810512"/>
            <a:ext cx="2423160" cy="640080"/>
          </a:xfrm>
          <a:prstGeom prst="roundRect">
            <a:avLst>
              <a:gd name="adj" fmla="val 11429"/>
            </a:avLst>
          </a:prstGeom>
          <a:solidFill>
            <a:srgbClr val="F7F7F7"/>
          </a:solidFill>
          <a:ln w="12700">
            <a:solidFill>
              <a:srgbClr val="F7F7F7"/>
            </a:solidFill>
            <a:prstDash val="solid"/>
          </a:ln>
        </p:spPr>
      </p:sp>
      <p:sp>
        <p:nvSpPr>
          <p:cNvPr id="13" name="Text 11"/>
          <p:cNvSpPr txBox="1"/>
          <p:nvPr/>
        </p:nvSpPr>
        <p:spPr>
          <a:xfrm>
            <a:off x="6355080" y="1865376"/>
            <a:ext cx="2240280" cy="548640"/>
          </a:xfrm>
          <a:prstGeom prst="rect">
            <a:avLst/>
          </a:prstGeom>
          <a:noFill/>
          <a:ln/>
        </p:spPr>
        <p:txBody>
          <a:bodyPr wrap="square" lIns="0" tIns="0" rIns="0" bIns="0" rtlCol="0" anchor="t"/>
          <a:lstStyle/>
          <a:p>
            <a:pPr indent="0" marL="0">
              <a:buNone/>
            </a:pPr>
            <a:r>
              <a:rPr lang="en-US" sz="1200" b="1" dirty="0">
                <a:solidFill>
                  <a:srgbClr val="14324A"/>
                </a:solidFill>
              </a:rPr>
              <a:t>4. Sélection</a:t>
            </a:r>
            <a:endParaRPr lang="en-US" sz="1000" dirty="0"/>
          </a:p>
          <a:p>
            <a:pPr indent="0" marL="0">
              <a:buNone/>
            </a:pPr>
            <a:r>
              <a:rPr lang="en-US" sz="1000" dirty="0">
                <a:solidFill>
                  <a:srgbClr val="6B7A8F"/>
                </a:solidFill>
              </a:rPr>
              <a:t>inchangé : rang, N_off = 21</a:t>
            </a:r>
            <a:endParaRPr lang="en-US" sz="1000" dirty="0"/>
          </a:p>
        </p:txBody>
      </p:sp>
      <p:sp>
        <p:nvSpPr>
          <p:cNvPr id="14" name="etape5"/>
          <p:cNvSpPr/>
          <p:nvPr/>
        </p:nvSpPr>
        <p:spPr>
          <a:xfrm>
            <a:off x="6263640" y="2523744"/>
            <a:ext cx="2423160" cy="685800"/>
          </a:xfrm>
          <a:prstGeom prst="roundRect">
            <a:avLst>
              <a:gd name="adj" fmla="val 10667"/>
            </a:avLst>
          </a:prstGeom>
          <a:solidFill>
            <a:srgbClr val="EEF3F6"/>
          </a:solidFill>
          <a:ln w="12700">
            <a:solidFill>
              <a:srgbClr val="EEF3F6"/>
            </a:solidFill>
            <a:prstDash val="solid"/>
          </a:ln>
        </p:spPr>
      </p:sp>
      <p:sp>
        <p:nvSpPr>
          <p:cNvPr id="15" name="Text 13"/>
          <p:cNvSpPr txBox="1"/>
          <p:nvPr/>
        </p:nvSpPr>
        <p:spPr>
          <a:xfrm>
            <a:off x="6355080" y="2578608"/>
            <a:ext cx="2240280" cy="594360"/>
          </a:xfrm>
          <a:prstGeom prst="rect">
            <a:avLst/>
          </a:prstGeom>
          <a:noFill/>
          <a:ln/>
        </p:spPr>
        <p:txBody>
          <a:bodyPr wrap="square" lIns="0" tIns="0" rIns="0" bIns="0" rtlCol="0" anchor="t"/>
          <a:lstStyle/>
          <a:p>
            <a:pPr indent="0" marL="0">
              <a:buNone/>
            </a:pPr>
            <a:r>
              <a:rPr lang="en-US" sz="1200" b="1" dirty="0">
                <a:solidFill>
                  <a:srgbClr val="14324A"/>
                </a:solidFill>
              </a:rPr>
              <a:t>5. Croisement</a:t>
            </a:r>
            <a:endParaRPr lang="en-US" sz="1000" dirty="0"/>
          </a:p>
          <a:p>
            <a:pPr indent="0" marL="0">
              <a:buNone/>
            </a:pPr>
            <a:r>
              <a:rPr lang="en-US" sz="1000" dirty="0">
                <a:solidFill>
                  <a:srgbClr val="8A8A8A"/>
                </a:solidFill>
              </a:rPr>
              <a:t>pile ou face : O(C·V)</a:t>
            </a:r>
            <a:endParaRPr lang="en-US" sz="1000" dirty="0"/>
          </a:p>
          <a:p>
            <a:pPr indent="0" marL="0">
              <a:buNone/>
            </a:pPr>
            <a:r>
              <a:rPr lang="en-US" sz="1000" b="1" dirty="0">
                <a:solidFill>
                  <a:srgbClr val="0F7C8C"/>
                </a:solidFill>
              </a:rPr>
              <a:t>OX1 sur l'ordre : O(V + n)</a:t>
            </a:r>
            <a:endParaRPr lang="en-US" sz="1000" dirty="0"/>
          </a:p>
        </p:txBody>
      </p:sp>
      <p:sp>
        <p:nvSpPr>
          <p:cNvPr id="16" name="etape6"/>
          <p:cNvSpPr/>
          <p:nvPr/>
        </p:nvSpPr>
        <p:spPr>
          <a:xfrm>
            <a:off x="6263640" y="3282696"/>
            <a:ext cx="2423160" cy="685800"/>
          </a:xfrm>
          <a:prstGeom prst="roundRect">
            <a:avLst>
              <a:gd name="adj" fmla="val 10667"/>
            </a:avLst>
          </a:prstGeom>
          <a:solidFill>
            <a:srgbClr val="EEF3F6"/>
          </a:solidFill>
          <a:ln w="12700">
            <a:solidFill>
              <a:srgbClr val="EEF3F6"/>
            </a:solidFill>
            <a:prstDash val="solid"/>
          </a:ln>
        </p:spPr>
      </p:sp>
      <p:sp>
        <p:nvSpPr>
          <p:cNvPr id="17" name="Text 15"/>
          <p:cNvSpPr txBox="1"/>
          <p:nvPr/>
        </p:nvSpPr>
        <p:spPr>
          <a:xfrm>
            <a:off x="6355080" y="3337560"/>
            <a:ext cx="2240280" cy="594360"/>
          </a:xfrm>
          <a:prstGeom prst="rect">
            <a:avLst/>
          </a:prstGeom>
          <a:noFill/>
          <a:ln/>
        </p:spPr>
        <p:txBody>
          <a:bodyPr wrap="square" lIns="0" tIns="0" rIns="0" bIns="0" rtlCol="0" anchor="t"/>
          <a:lstStyle/>
          <a:p>
            <a:pPr indent="0" marL="0">
              <a:buNone/>
            </a:pPr>
            <a:r>
              <a:rPr lang="en-US" sz="1200" b="1" dirty="0">
                <a:solidFill>
                  <a:srgbClr val="14324A"/>
                </a:solidFill>
              </a:rPr>
              <a:t>6. Mutation</a:t>
            </a:r>
            <a:endParaRPr lang="en-US" sz="1000" dirty="0"/>
          </a:p>
          <a:p>
            <a:pPr indent="0" marL="0">
              <a:buNone/>
            </a:pPr>
            <a:r>
              <a:rPr lang="en-US" sz="1000" dirty="0">
                <a:solidFill>
                  <a:srgbClr val="8A8A8A"/>
                </a:solidFill>
              </a:rPr>
              <a:t>inverser 1 case (copie O(C·V))</a:t>
            </a:r>
            <a:endParaRPr lang="en-US" sz="1000" dirty="0"/>
          </a:p>
          <a:p>
            <a:pPr indent="0" marL="0">
              <a:buNone/>
            </a:pPr>
            <a:r>
              <a:rPr lang="en-US" sz="1000" b="1" dirty="0">
                <a:solidFill>
                  <a:srgbClr val="0F7C8C"/>
                </a:solidFill>
              </a:rPr>
              <a:t>échanger 2 vidéos (copie O(n))</a:t>
            </a:r>
            <a:endParaRPr lang="en-US" sz="1000" dirty="0"/>
          </a:p>
        </p:txBody>
      </p:sp>
      <p:sp>
        <p:nvSpPr>
          <p:cNvPr id="18" name="chaine_0"/>
          <p:cNvSpPr/>
          <p:nvPr/>
        </p:nvSpPr>
        <p:spPr>
          <a:xfrm>
            <a:off x="3063240" y="1097280"/>
            <a:ext cx="3017520" cy="548640"/>
          </a:xfrm>
          <a:prstGeom prst="roundRect">
            <a:avLst>
              <a:gd name="adj" fmla="val 13333"/>
            </a:avLst>
          </a:prstGeom>
          <a:solidFill>
            <a:srgbClr val="FFFFFF"/>
          </a:solidFill>
          <a:ln w="12700">
            <a:solidFill>
              <a:srgbClr val="8DB8C2"/>
            </a:solidFill>
            <a:prstDash val="solid"/>
          </a:ln>
        </p:spPr>
      </p:sp>
      <p:sp>
        <p:nvSpPr>
          <p:cNvPr id="19" name="Text 17"/>
          <p:cNvSpPr txBox="1"/>
          <p:nvPr/>
        </p:nvSpPr>
        <p:spPr>
          <a:xfrm>
            <a:off x="3154680" y="1133856"/>
            <a:ext cx="2834640" cy="493776"/>
          </a:xfrm>
          <a:prstGeom prst="rect">
            <a:avLst/>
          </a:prstGeom>
          <a:noFill/>
          <a:ln/>
        </p:spPr>
        <p:txBody>
          <a:bodyPr wrap="square" lIns="0" tIns="0" rIns="0" bIns="0" rtlCol="0" anchor="t"/>
          <a:lstStyle/>
          <a:p>
            <a:pPr algn="ctr" indent="0" marL="0">
              <a:buNone/>
            </a:pPr>
            <a:r>
              <a:rPr lang="en-US" sz="1200" b="1" dirty="0">
                <a:solidFill>
                  <a:srgbClr val="14324A"/>
                </a:solidFill>
              </a:rPr>
              <a:t>Chromosome</a:t>
            </a:r>
            <a:endParaRPr lang="en-US" sz="1200" dirty="0"/>
          </a:p>
          <a:p>
            <a:pPr algn="ctr" indent="0" marL="0">
              <a:buNone/>
            </a:pPr>
            <a:r>
              <a:rPr lang="en-US" sz="1000" dirty="0">
                <a:solidFill>
                  <a:srgbClr val="6B7A8F"/>
                </a:solidFill>
              </a:rPr>
              <a:t>ordre des n vidéos utiles (avant : matrice C × V)</a:t>
            </a:r>
            <a:endParaRPr lang="en-US" sz="1200" dirty="0"/>
          </a:p>
        </p:txBody>
      </p:sp>
      <p:sp>
        <p:nvSpPr>
          <p:cNvPr id="20" name="Shape 18"/>
          <p:cNvSpPr/>
          <p:nvPr/>
        </p:nvSpPr>
        <p:spPr>
          <a:xfrm>
            <a:off x="4480560" y="1655064"/>
            <a:ext cx="182880" cy="137160"/>
          </a:xfrm>
          <a:prstGeom prst="downArrow">
            <a:avLst/>
          </a:prstGeom>
          <a:solidFill>
            <a:srgbClr val="8DB8C2"/>
          </a:solidFill>
          <a:ln w="12700">
            <a:solidFill>
              <a:srgbClr val="8DB8C2"/>
            </a:solidFill>
            <a:prstDash val="solid"/>
          </a:ln>
        </p:spPr>
      </p:sp>
      <p:sp>
        <p:nvSpPr>
          <p:cNvPr id="21" name="chaine_1"/>
          <p:cNvSpPr/>
          <p:nvPr/>
        </p:nvSpPr>
        <p:spPr>
          <a:xfrm>
            <a:off x="3063240" y="1810512"/>
            <a:ext cx="3017520" cy="548640"/>
          </a:xfrm>
          <a:prstGeom prst="roundRect">
            <a:avLst>
              <a:gd name="adj" fmla="val 13333"/>
            </a:avLst>
          </a:prstGeom>
          <a:solidFill>
            <a:srgbClr val="0F7C8C"/>
          </a:solidFill>
          <a:ln w="12700">
            <a:solidFill>
              <a:srgbClr val="0F7C8C"/>
            </a:solidFill>
            <a:prstDash val="solid"/>
          </a:ln>
        </p:spPr>
      </p:sp>
      <p:sp>
        <p:nvSpPr>
          <p:cNvPr id="22" name="Text 20"/>
          <p:cNvSpPr txBox="1"/>
          <p:nvPr/>
        </p:nvSpPr>
        <p:spPr>
          <a:xfrm>
            <a:off x="3154680" y="1847088"/>
            <a:ext cx="2834640" cy="493776"/>
          </a:xfrm>
          <a:prstGeom prst="rect">
            <a:avLst/>
          </a:prstGeom>
          <a:noFill/>
          <a:ln/>
        </p:spPr>
        <p:txBody>
          <a:bodyPr wrap="square" lIns="0" tIns="0" rIns="0" bIns="0" rtlCol="0" anchor="t"/>
          <a:lstStyle/>
          <a:p>
            <a:pPr algn="ctr" indent="0" marL="0">
              <a:buNone/>
            </a:pPr>
            <a:r>
              <a:rPr lang="en-US" sz="1200" b="1" dirty="0">
                <a:solidFill>
                  <a:srgbClr val="FFFFFF"/>
                </a:solidFill>
              </a:rPr>
              <a:t>Glouton</a:t>
            </a:r>
            <a:endParaRPr lang="en-US" sz="1200" dirty="0"/>
          </a:p>
          <a:p>
            <a:pPr algn="ctr" indent="0" marL="0">
              <a:buNone/>
            </a:pPr>
            <a:r>
              <a:rPr lang="en-US" sz="1000" dirty="0">
                <a:solidFill>
                  <a:srgbClr val="FFFFFF"/>
                </a:solidFill>
              </a:rPr>
              <a:t>remplit les caches par tours</a:t>
            </a:r>
            <a:endParaRPr lang="en-US" sz="1200" dirty="0"/>
          </a:p>
        </p:txBody>
      </p:sp>
      <p:sp>
        <p:nvSpPr>
          <p:cNvPr id="23" name="Shape 21"/>
          <p:cNvSpPr/>
          <p:nvPr/>
        </p:nvSpPr>
        <p:spPr>
          <a:xfrm>
            <a:off x="4480560" y="2368296"/>
            <a:ext cx="182880" cy="137160"/>
          </a:xfrm>
          <a:prstGeom prst="downArrow">
            <a:avLst/>
          </a:prstGeom>
          <a:solidFill>
            <a:srgbClr val="8DB8C2"/>
          </a:solidFill>
          <a:ln w="12700">
            <a:solidFill>
              <a:srgbClr val="8DB8C2"/>
            </a:solidFill>
            <a:prstDash val="solid"/>
          </a:ln>
        </p:spPr>
      </p:sp>
      <p:sp>
        <p:nvSpPr>
          <p:cNvPr id="24" name="chaine_2"/>
          <p:cNvSpPr/>
          <p:nvPr/>
        </p:nvSpPr>
        <p:spPr>
          <a:xfrm>
            <a:off x="3063240" y="2523744"/>
            <a:ext cx="3017520" cy="548640"/>
          </a:xfrm>
          <a:prstGeom prst="roundRect">
            <a:avLst>
              <a:gd name="adj" fmla="val 13333"/>
            </a:avLst>
          </a:prstGeom>
          <a:solidFill>
            <a:srgbClr val="FFFFFF"/>
          </a:solidFill>
          <a:ln w="12700">
            <a:solidFill>
              <a:srgbClr val="8DB8C2"/>
            </a:solidFill>
            <a:prstDash val="solid"/>
          </a:ln>
        </p:spPr>
      </p:sp>
      <p:sp>
        <p:nvSpPr>
          <p:cNvPr id="25" name="Text 23"/>
          <p:cNvSpPr txBox="1"/>
          <p:nvPr/>
        </p:nvSpPr>
        <p:spPr>
          <a:xfrm>
            <a:off x="3154680" y="2560320"/>
            <a:ext cx="2834640" cy="493776"/>
          </a:xfrm>
          <a:prstGeom prst="rect">
            <a:avLst/>
          </a:prstGeom>
          <a:noFill/>
          <a:ln/>
        </p:spPr>
        <p:txBody>
          <a:bodyPr wrap="square" lIns="0" tIns="0" rIns="0" bIns="0" rtlCol="0" anchor="t"/>
          <a:lstStyle/>
          <a:p>
            <a:pPr algn="ctr" indent="0" marL="0">
              <a:buNone/>
            </a:pPr>
            <a:r>
              <a:rPr lang="en-US" sz="1200" b="1" dirty="0">
                <a:solidFill>
                  <a:srgbClr val="14324A"/>
                </a:solidFill>
              </a:rPr>
              <a:t>Solution valide</a:t>
            </a:r>
            <a:endParaRPr lang="en-US" sz="1200" dirty="0"/>
          </a:p>
          <a:p>
            <a:pPr algn="ctr" indent="0" marL="0">
              <a:buNone/>
            </a:pPr>
            <a:r>
              <a:rPr lang="en-US" sz="1000" dirty="0">
                <a:solidFill>
                  <a:srgbClr val="6B7A8F"/>
                </a:solidFill>
              </a:rPr>
              <a:t>≤ X Mo par cache, par construction</a:t>
            </a:r>
            <a:endParaRPr lang="en-US" sz="1200" dirty="0"/>
          </a:p>
        </p:txBody>
      </p:sp>
      <p:sp>
        <p:nvSpPr>
          <p:cNvPr id="26" name="Shape 24"/>
          <p:cNvSpPr/>
          <p:nvPr/>
        </p:nvSpPr>
        <p:spPr>
          <a:xfrm>
            <a:off x="4480560" y="3081528"/>
            <a:ext cx="182880" cy="137160"/>
          </a:xfrm>
          <a:prstGeom prst="downArrow">
            <a:avLst/>
          </a:prstGeom>
          <a:solidFill>
            <a:srgbClr val="8DB8C2"/>
          </a:solidFill>
          <a:ln w="12700">
            <a:solidFill>
              <a:srgbClr val="8DB8C2"/>
            </a:solidFill>
            <a:prstDash val="solid"/>
          </a:ln>
        </p:spPr>
      </p:sp>
      <p:sp>
        <p:nvSpPr>
          <p:cNvPr id="27" name="chaine_3"/>
          <p:cNvSpPr/>
          <p:nvPr/>
        </p:nvSpPr>
        <p:spPr>
          <a:xfrm>
            <a:off x="3063240" y="3236976"/>
            <a:ext cx="3017520" cy="548640"/>
          </a:xfrm>
          <a:prstGeom prst="roundRect">
            <a:avLst>
              <a:gd name="adj" fmla="val 13333"/>
            </a:avLst>
          </a:prstGeom>
          <a:solidFill>
            <a:srgbClr val="FFFFFF"/>
          </a:solidFill>
          <a:ln w="12700">
            <a:solidFill>
              <a:srgbClr val="8DB8C2"/>
            </a:solidFill>
            <a:prstDash val="solid"/>
          </a:ln>
        </p:spPr>
      </p:sp>
      <p:sp>
        <p:nvSpPr>
          <p:cNvPr id="28" name="Text 26"/>
          <p:cNvSpPr txBox="1"/>
          <p:nvPr/>
        </p:nvSpPr>
        <p:spPr>
          <a:xfrm>
            <a:off x="3154680" y="3273552"/>
            <a:ext cx="2834640" cy="493776"/>
          </a:xfrm>
          <a:prstGeom prst="rect">
            <a:avLst/>
          </a:prstGeom>
          <a:noFill/>
          <a:ln/>
        </p:spPr>
        <p:txBody>
          <a:bodyPr wrap="square" lIns="0" tIns="0" rIns="0" bIns="0" rtlCol="0" anchor="t"/>
          <a:lstStyle/>
          <a:p>
            <a:pPr algn="ctr" indent="0" marL="0">
              <a:buNone/>
            </a:pPr>
            <a:r>
              <a:rPr lang="en-US" sz="1200" b="1" dirty="0">
                <a:solidFill>
                  <a:srgbClr val="14324A"/>
                </a:solidFill>
              </a:rPr>
              <a:t>F = score</a:t>
            </a:r>
            <a:endParaRPr lang="en-US" sz="1200" dirty="0"/>
          </a:p>
          <a:p>
            <a:pPr algn="ctr" indent="0" marL="0">
              <a:buNone/>
            </a:pPr>
            <a:r>
              <a:rPr lang="en-US" sz="1000" dirty="0">
                <a:solidFill>
                  <a:srgbClr val="6B7A8F"/>
                </a:solidFill>
              </a:rPr>
              <a:t>temps gagné × 1000 / requêtes</a:t>
            </a:r>
            <a:endParaRPr lang="en-US" sz="1200" dirty="0"/>
          </a:p>
        </p:txBody>
      </p:sp>
      <p:sp>
        <p:nvSpPr>
          <p:cNvPr id="29" name="complexite"/>
          <p:cNvSpPr/>
          <p:nvPr/>
        </p:nvSpPr>
        <p:spPr>
          <a:xfrm>
            <a:off x="457200" y="4041648"/>
            <a:ext cx="8229600" cy="713232"/>
          </a:xfrm>
          <a:prstGeom prst="roundRect">
            <a:avLst>
              <a:gd name="adj" fmla="val 10256"/>
            </a:avLst>
          </a:prstGeom>
          <a:solidFill>
            <a:srgbClr val="E3F1E4"/>
          </a:solidFill>
          <a:ln w="12700">
            <a:solidFill>
              <a:srgbClr val="E3F1E4"/>
            </a:solidFill>
            <a:prstDash val="solid"/>
          </a:ln>
        </p:spPr>
      </p:sp>
      <p:sp>
        <p:nvSpPr>
          <p:cNvPr id="30" name="Text 28"/>
          <p:cNvSpPr txBox="1"/>
          <p:nvPr/>
        </p:nvSpPr>
        <p:spPr>
          <a:xfrm>
            <a:off x="594360" y="4087368"/>
            <a:ext cx="7955280" cy="640080"/>
          </a:xfrm>
          <a:prstGeom prst="rect">
            <a:avLst/>
          </a:prstGeom>
          <a:noFill/>
          <a:ln/>
        </p:spPr>
        <p:txBody>
          <a:bodyPr wrap="square" lIns="0" tIns="0" rIns="0" bIns="0" rtlCol="0" anchor="t"/>
          <a:lstStyle/>
          <a:p>
            <a:pPr algn="ctr" indent="0" marL="0">
              <a:buNone/>
            </a:pPr>
            <a:r>
              <a:rPr lang="en-US" sz="1300" dirty="0">
                <a:solidFill>
                  <a:srgbClr val="8A8A8A"/>
                </a:solidFill>
              </a:rPr>
              <a:t>Avant : O((N + G·N_off) · E·V·C)   →   </a:t>
            </a:r>
            <a:pPr algn="ctr" indent="0" marL="0">
              <a:buNone/>
            </a:pPr>
            <a:r>
              <a:rPr lang="en-US" sz="1300" b="1" dirty="0">
                <a:solidFill>
                  <a:srgbClr val="2E6B34"/>
                </a:solidFill>
              </a:rPr>
              <a:t>Après : O(N · n log n + (N + G·N_off) · (copies+1) · R · K)</a:t>
            </a:r>
            <a:endParaRPr lang="en-US" sz="1300" dirty="0"/>
          </a:p>
          <a:p>
            <a:pPr algn="ctr" indent="0" marL="0">
              <a:buNone/>
            </a:pPr>
            <a:r>
              <a:rPr lang="en-US" sz="950" dirty="0">
                <a:solidFill>
                  <a:srgbClr val="14324A"/>
                </a:solidFill>
              </a:rPr>
              <a:t>n vidéos utiles ≤ V, R paires (vidéo, endpoint) demandées, K caches par endpoint. E·V·C = pire cas : le code saute les paires sans requête. </a:t>
            </a:r>
            <a:pPr algn="ctr" indent="0" marL="0">
              <a:buNone/>
            </a:pPr>
            <a:r>
              <a:rPr lang="en-US" sz="950" b="1" dirty="0">
                <a:solidFill>
                  <a:srgbClr val="14324A"/>
                </a:solidFill>
              </a:rPr>
              <a:t>Vérifié par la mesure : corrélation 0,99.</a:t>
            </a:r>
            <a:endParaRPr lang="en-US" sz="13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Les preuves : ce que le changement apporte</a:t>
            </a:r>
            <a:endParaRPr lang="en-US" sz="2600" dirty="0"/>
          </a:p>
        </p:txBody>
      </p:sp>
      <p:graphicFrame>
        <p:nvGraphicFramePr>
          <p:cNvPr id="3" name="avant_apres" descr=""/>
          <p:cNvGraphicFramePr/>
          <p:nvPr/>
        </p:nvGraphicFramePr>
        <p:xfrm>
          <a:off x="457200" y="868680"/>
          <a:ext cx="5120640" cy="3154680"/>
        </p:xfrm>
        <a:graphic xmlns:a="http://schemas.openxmlformats.org/drawingml/2006/main">
          <a:graphicData uri="http://schemas.openxmlformats.org/drawingml/2006/chart">
            <c:chart xmlns:c="http://schemas.openxmlformats.org/drawingml/2006/chart" r:id="rId1"/>
          </a:graphicData>
        </a:graphic>
      </p:graphicFrame>
      <p:graphicFrame>
        <p:nvGraphicFramePr>
          <p:cNvPr id="3" name="stats_avant_apres"/>
          <p:cNvGraphicFramePr>
            <a:graphicFrameLocks noGrp="1"/>
          </p:cNvGraphicFramePr>
          <p:nvPr>
            <p:extLst>
              <p:ext uri="{D42A27DB-BD31-4B8C-83A1-F6EECF244321}">
                <p14:modId xmlns:p14="http://schemas.microsoft.com/office/powerpoint/2010/main" val="1579011935"/>
              </p:ext>
            </p:extLst>
          </p:nvPr>
        </p:nvGraphicFramePr>
        <p:xfrm>
          <a:off x="5760720" y="868680"/>
          <a:ext cx="2926080" cy="914400"/>
        </p:xfrm>
        <a:graphic>
          <a:graphicData uri="http://schemas.openxmlformats.org/drawingml/2006/table">
            <a:tbl>
              <a:tblPr/>
              <a:tblGrid>
                <a:gridCol w="1737360"/>
                <a:gridCol w="594360"/>
                <a:gridCol w="59436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Moyenne 11 instances</a:t>
                      </a:r>
                      <a:endParaRPr lang="en-US" sz="1050" dirty="0">
                        <a:latin typeface="Calibri" charset="0"/>
                        <a:ea typeface="Calibri" charset="0"/>
                        <a:cs typeface="Calibri" charset="0"/>
                      </a:endParaRPr>
                    </a:p>
                  </a:txBody>
                  <a:tcPr marL="91440" marR="91440" marT="45720" marB="45720"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avant</a:t>
                      </a:r>
                      <a:endParaRPr lang="en-US" sz="1050" dirty="0">
                        <a:latin typeface="Calibri" charset="0"/>
                        <a:ea typeface="Calibri" charset="0"/>
                        <a:cs typeface="Calibri" charset="0"/>
                      </a:endParaRPr>
                    </a:p>
                  </a:txBody>
                  <a:tcPr marL="91440" marR="91440" marT="45720" marB="45720"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après</a:t>
                      </a:r>
                      <a:endParaRPr lang="en-US" sz="1050" dirty="0">
                        <a:latin typeface="Calibri" charset="0"/>
                        <a:ea typeface="Calibri" charset="0"/>
                        <a:cs typeface="Calibri" charset="0"/>
                      </a:endParaRPr>
                    </a:p>
                  </a:txBody>
                  <a:tcPr marL="91440" marR="91440" marT="45720" marB="45720"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solidFill>
                      <a:srgbClr val="0F7C8C"/>
                    </a:solidFill>
                  </a:tcPr>
                </a:tc>
              </a:tr>
              <a:tr h="274320">
                <a:tc>
                  <a:txBody>
                    <a:bodyPr/>
                    <a:lstStyle/>
                    <a:p>
                      <a:pPr indent="0" marL="0">
                        <a:buNone/>
                      </a:pPr>
                      <a:r>
                        <a:rPr lang="en-US" sz="1000" dirty="0">
                          <a:solidFill>
                            <a:srgbClr val="14324A"/>
                          </a:solidFill>
                          <a:latin typeface="Calibri" pitchFamily="34" charset="0"/>
                          <a:ea typeface="Calibri" pitchFamily="34" charset="-122"/>
                          <a:cs typeface="Calibri" pitchFamily="34" charset="-120"/>
                        </a:rPr>
                        <a:t>copies inutiles</a:t>
                      </a:r>
                      <a:endParaRPr lang="en-US" sz="1000" dirty="0">
                        <a:latin typeface="Calibri" charset="0"/>
                        <a:ea typeface="Calibri" charset="0"/>
                        <a:cs typeface="Calibri" charset="0"/>
                      </a:endParaRPr>
                    </a:p>
                  </a:txBody>
                  <a:tcPr marL="91440" marR="91440" marT="45720" marB="45720"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1000" dirty="0">
                          <a:solidFill>
                            <a:srgbClr val="B5485A"/>
                          </a:solidFill>
                          <a:latin typeface="Calibri" pitchFamily="34" charset="0"/>
                          <a:ea typeface="Calibri" pitchFamily="34" charset="-122"/>
                          <a:cs typeface="Calibri" pitchFamily="34" charset="-120"/>
                        </a:rPr>
                        <a:t>31,8 %</a:t>
                      </a:r>
                      <a:endParaRPr lang="en-US" sz="1000" dirty="0">
                        <a:latin typeface="Calibri" charset="0"/>
                        <a:ea typeface="Calibri" charset="0"/>
                        <a:cs typeface="Calibri" charset="0"/>
                      </a:endParaRPr>
                    </a:p>
                  </a:txBody>
                  <a:tcPr marL="91440" marR="91440" marT="45720" marB="45720"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1000" b="1" dirty="0">
                          <a:solidFill>
                            <a:srgbClr val="0F7C8C"/>
                          </a:solidFill>
                          <a:latin typeface="Calibri" pitchFamily="34" charset="0"/>
                          <a:ea typeface="Calibri" pitchFamily="34" charset="-122"/>
                          <a:cs typeface="Calibri" pitchFamily="34" charset="-120"/>
                        </a:rPr>
                        <a:t>0,4 %</a:t>
                      </a:r>
                      <a:endParaRPr lang="en-US" sz="1000" dirty="0">
                        <a:latin typeface="Calibri" charset="0"/>
                        <a:ea typeface="Calibri" charset="0"/>
                        <a:cs typeface="Calibri" charset="0"/>
                      </a:endParaRPr>
                    </a:p>
                  </a:txBody>
                  <a:tcPr marL="91440" marR="91440" marT="45720" marB="45720"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274320">
                <a:tc>
                  <a:txBody>
                    <a:bodyPr/>
                    <a:lstStyle/>
                    <a:p>
                      <a:pPr indent="0" marL="0">
                        <a:buNone/>
                      </a:pPr>
                      <a:r>
                        <a:rPr lang="en-US" sz="1000" dirty="0">
                          <a:solidFill>
                            <a:srgbClr val="14324A"/>
                          </a:solidFill>
                          <a:latin typeface="Calibri" pitchFamily="34" charset="0"/>
                          <a:ea typeface="Calibri" pitchFamily="34" charset="-122"/>
                          <a:cs typeface="Calibri" pitchFamily="34" charset="-120"/>
                        </a:rPr>
                        <a:t>capacité gaspillée</a:t>
                      </a:r>
                      <a:endParaRPr lang="en-US" sz="1000" dirty="0">
                        <a:latin typeface="Calibri" charset="0"/>
                        <a:ea typeface="Calibri" charset="0"/>
                        <a:cs typeface="Calibri" charset="0"/>
                      </a:endParaRPr>
                    </a:p>
                  </a:txBody>
                  <a:tcPr marL="91440" marR="91440" marT="45720" marB="45720"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1000" dirty="0">
                          <a:solidFill>
                            <a:srgbClr val="B5485A"/>
                          </a:solidFill>
                          <a:latin typeface="Calibri" pitchFamily="34" charset="0"/>
                          <a:ea typeface="Calibri" pitchFamily="34" charset="-122"/>
                          <a:cs typeface="Calibri" pitchFamily="34" charset="-120"/>
                        </a:rPr>
                        <a:t>29,0 %</a:t>
                      </a:r>
                      <a:endParaRPr lang="en-US" sz="1000" dirty="0">
                        <a:latin typeface="Calibri" charset="0"/>
                        <a:ea typeface="Calibri" charset="0"/>
                        <a:cs typeface="Calibri" charset="0"/>
                      </a:endParaRPr>
                    </a:p>
                  </a:txBody>
                  <a:tcPr marL="91440" marR="91440" marT="45720" marB="45720"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1000" b="1" dirty="0">
                          <a:solidFill>
                            <a:srgbClr val="0F7C8C"/>
                          </a:solidFill>
                          <a:latin typeface="Calibri" pitchFamily="34" charset="0"/>
                          <a:ea typeface="Calibri" pitchFamily="34" charset="-122"/>
                          <a:cs typeface="Calibri" pitchFamily="34" charset="-120"/>
                        </a:rPr>
                        <a:t>0,0 %</a:t>
                      </a:r>
                      <a:endParaRPr lang="en-US" sz="1000" dirty="0">
                        <a:latin typeface="Calibri" charset="0"/>
                        <a:ea typeface="Calibri" charset="0"/>
                        <a:cs typeface="Calibri" charset="0"/>
                      </a:endParaRPr>
                    </a:p>
                  </a:txBody>
                  <a:tcPr marL="91440" marR="91440" marT="45720" marB="45720"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274320">
                <a:tc>
                  <a:txBody>
                    <a:bodyPr/>
                    <a:lstStyle/>
                    <a:p>
                      <a:pPr indent="0" marL="0">
                        <a:buNone/>
                      </a:pPr>
                      <a:r>
                        <a:rPr lang="en-US" sz="1000" dirty="0">
                          <a:solidFill>
                            <a:srgbClr val="14324A"/>
                          </a:solidFill>
                          <a:latin typeface="Calibri" pitchFamily="34" charset="0"/>
                          <a:ea typeface="Calibri" pitchFamily="34" charset="-122"/>
                          <a:cs typeface="Calibri" pitchFamily="34" charset="-120"/>
                        </a:rPr>
                        <a:t>requêtes servies par un cache</a:t>
                      </a:r>
                      <a:endParaRPr lang="en-US" sz="1000" dirty="0">
                        <a:latin typeface="Calibri" charset="0"/>
                        <a:ea typeface="Calibri" charset="0"/>
                        <a:cs typeface="Calibri" charset="0"/>
                      </a:endParaRPr>
                    </a:p>
                  </a:txBody>
                  <a:tcPr marL="91440" marR="91440" marT="45720" marB="45720"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1000" dirty="0">
                          <a:solidFill>
                            <a:srgbClr val="B5485A"/>
                          </a:solidFill>
                          <a:latin typeface="Calibri" pitchFamily="34" charset="0"/>
                          <a:ea typeface="Calibri" pitchFamily="34" charset="-122"/>
                          <a:cs typeface="Calibri" pitchFamily="34" charset="-120"/>
                        </a:rPr>
                        <a:t>37,8 %</a:t>
                      </a:r>
                      <a:endParaRPr lang="en-US" sz="1000" dirty="0">
                        <a:latin typeface="Calibri" charset="0"/>
                        <a:ea typeface="Calibri" charset="0"/>
                        <a:cs typeface="Calibri" charset="0"/>
                      </a:endParaRPr>
                    </a:p>
                  </a:txBody>
                  <a:tcPr marL="91440" marR="91440" marT="45720" marB="45720"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1000" b="1" dirty="0">
                          <a:solidFill>
                            <a:srgbClr val="0F7C8C"/>
                          </a:solidFill>
                          <a:latin typeface="Calibri" pitchFamily="34" charset="0"/>
                          <a:ea typeface="Calibri" pitchFamily="34" charset="-122"/>
                          <a:cs typeface="Calibri" pitchFamily="34" charset="-120"/>
                        </a:rPr>
                        <a:t>66,5 %</a:t>
                      </a:r>
                      <a:endParaRPr lang="en-US" sz="1000" dirty="0">
                        <a:latin typeface="Calibri" charset="0"/>
                        <a:ea typeface="Calibri" charset="0"/>
                        <a:cs typeface="Calibri" charset="0"/>
                      </a:endParaRPr>
                    </a:p>
                  </a:txBody>
                  <a:tcPr marL="91440" marR="91440" marT="45720" marB="45720"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274320">
                <a:tc>
                  <a:txBody>
                    <a:bodyPr/>
                    <a:lstStyle/>
                    <a:p>
                      <a:pPr indent="0" marL="0">
                        <a:buNone/>
                      </a:pPr>
                      <a:r>
                        <a:rPr lang="en-US" sz="1000" dirty="0">
                          <a:solidFill>
                            <a:srgbClr val="14324A"/>
                          </a:solidFill>
                          <a:latin typeface="Calibri" pitchFamily="34" charset="0"/>
                          <a:ea typeface="Calibri" pitchFamily="34" charset="-122"/>
                          <a:cs typeface="Calibri" pitchFamily="34" charset="-120"/>
                        </a:rPr>
                        <a:t>vidéos utiles en cache</a:t>
                      </a:r>
                      <a:endParaRPr lang="en-US" sz="1000" dirty="0">
                        <a:latin typeface="Calibri" charset="0"/>
                        <a:ea typeface="Calibri" charset="0"/>
                        <a:cs typeface="Calibri" charset="0"/>
                      </a:endParaRPr>
                    </a:p>
                  </a:txBody>
                  <a:tcPr marL="91440" marR="91440" marT="45720" marB="45720"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1000" dirty="0">
                          <a:solidFill>
                            <a:srgbClr val="B5485A"/>
                          </a:solidFill>
                          <a:latin typeface="Calibri" pitchFamily="34" charset="0"/>
                          <a:ea typeface="Calibri" pitchFamily="34" charset="-122"/>
                          <a:cs typeface="Calibri" pitchFamily="34" charset="-120"/>
                        </a:rPr>
                        <a:t>48,8 %</a:t>
                      </a:r>
                      <a:endParaRPr lang="en-US" sz="1000" dirty="0">
                        <a:latin typeface="Calibri" charset="0"/>
                        <a:ea typeface="Calibri" charset="0"/>
                        <a:cs typeface="Calibri" charset="0"/>
                      </a:endParaRPr>
                    </a:p>
                  </a:txBody>
                  <a:tcPr marL="91440" marR="91440" marT="45720" marB="45720"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1000" b="1" dirty="0">
                          <a:solidFill>
                            <a:srgbClr val="0F7C8C"/>
                          </a:solidFill>
                          <a:latin typeface="Calibri" pitchFamily="34" charset="0"/>
                          <a:ea typeface="Calibri" pitchFamily="34" charset="-122"/>
                          <a:cs typeface="Calibri" pitchFamily="34" charset="-120"/>
                        </a:rPr>
                        <a:t>76,3 %</a:t>
                      </a:r>
                      <a:endParaRPr lang="en-US" sz="1000" dirty="0">
                        <a:latin typeface="Calibri" charset="0"/>
                        <a:ea typeface="Calibri" charset="0"/>
                        <a:cs typeface="Calibri" charset="0"/>
                      </a:endParaRPr>
                    </a:p>
                  </a:txBody>
                  <a:tcPr marL="91440" marR="91440" marT="45720" marB="45720"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274320">
                <a:tc>
                  <a:txBody>
                    <a:bodyPr/>
                    <a:lstStyle/>
                    <a:p>
                      <a:pPr indent="0" marL="0">
                        <a:buNone/>
                      </a:pPr>
                      <a:r>
                        <a:rPr lang="en-US" sz="1000" dirty="0">
                          <a:solidFill>
                            <a:srgbClr val="14324A"/>
                          </a:solidFill>
                          <a:latin typeface="Calibri" pitchFamily="34" charset="0"/>
                          <a:ea typeface="Calibri" pitchFamily="34" charset="-122"/>
                          <a:cs typeface="Calibri" pitchFamily="34" charset="-120"/>
                        </a:rPr>
                        <a:t>top 10 % demandées absentes</a:t>
                      </a:r>
                      <a:endParaRPr lang="en-US" sz="1000" dirty="0">
                        <a:latin typeface="Calibri" charset="0"/>
                        <a:ea typeface="Calibri" charset="0"/>
                        <a:cs typeface="Calibri" charset="0"/>
                      </a:endParaRPr>
                    </a:p>
                  </a:txBody>
                  <a:tcPr marL="91440" marR="91440" marT="45720" marB="45720"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1000" dirty="0">
                          <a:solidFill>
                            <a:srgbClr val="B5485A"/>
                          </a:solidFill>
                          <a:latin typeface="Calibri" pitchFamily="34" charset="0"/>
                          <a:ea typeface="Calibri" pitchFamily="34" charset="-122"/>
                          <a:cs typeface="Calibri" pitchFamily="34" charset="-120"/>
                        </a:rPr>
                        <a:t>44,9 %</a:t>
                      </a:r>
                      <a:endParaRPr lang="en-US" sz="1000" dirty="0">
                        <a:latin typeface="Calibri" charset="0"/>
                        <a:ea typeface="Calibri" charset="0"/>
                        <a:cs typeface="Calibri" charset="0"/>
                      </a:endParaRPr>
                    </a:p>
                  </a:txBody>
                  <a:tcPr marL="91440" marR="91440" marT="45720" marB="45720"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1000" b="1" dirty="0">
                          <a:solidFill>
                            <a:srgbClr val="0F7C8C"/>
                          </a:solidFill>
                          <a:latin typeface="Calibri" pitchFamily="34" charset="0"/>
                          <a:ea typeface="Calibri" pitchFamily="34" charset="-122"/>
                          <a:cs typeface="Calibri" pitchFamily="34" charset="-120"/>
                        </a:rPr>
                        <a:t>12,1 %</a:t>
                      </a:r>
                      <a:endParaRPr lang="en-US" sz="1000" dirty="0">
                        <a:latin typeface="Calibri" charset="0"/>
                        <a:ea typeface="Calibri" charset="0"/>
                        <a:cs typeface="Calibri" charset="0"/>
                      </a:endParaRPr>
                    </a:p>
                  </a:txBody>
                  <a:tcPr marL="91440" marR="91440" marT="45720" marB="45720"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r h="274320">
                <a:tc>
                  <a:txBody>
                    <a:bodyPr/>
                    <a:lstStyle/>
                    <a:p>
                      <a:pPr indent="0" marL="0">
                        <a:buNone/>
                      </a:pPr>
                      <a:r>
                        <a:rPr lang="en-US" sz="1000" dirty="0">
                          <a:solidFill>
                            <a:srgbClr val="14324A"/>
                          </a:solidFill>
                          <a:latin typeface="Calibri" pitchFamily="34" charset="0"/>
                          <a:ea typeface="Calibri" pitchFamily="34" charset="-122"/>
                          <a:cs typeface="Calibri" pitchFamily="34" charset="-120"/>
                        </a:rPr>
                        <a:t>remplissage des caches</a:t>
                      </a:r>
                      <a:endParaRPr lang="en-US" sz="1000" dirty="0">
                        <a:latin typeface="Calibri" charset="0"/>
                        <a:ea typeface="Calibri" charset="0"/>
                        <a:cs typeface="Calibri" charset="0"/>
                      </a:endParaRPr>
                    </a:p>
                  </a:txBody>
                  <a:tcPr marL="91440" marR="91440" marT="45720" marB="45720"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1000" dirty="0">
                          <a:solidFill>
                            <a:srgbClr val="B5485A"/>
                          </a:solidFill>
                          <a:latin typeface="Calibri" pitchFamily="34" charset="0"/>
                          <a:ea typeface="Calibri" pitchFamily="34" charset="-122"/>
                          <a:cs typeface="Calibri" pitchFamily="34" charset="-120"/>
                        </a:rPr>
                        <a:t>95,1 %</a:t>
                      </a:r>
                      <a:endParaRPr lang="en-US" sz="1000" dirty="0">
                        <a:latin typeface="Calibri" charset="0"/>
                        <a:ea typeface="Calibri" charset="0"/>
                        <a:cs typeface="Calibri" charset="0"/>
                      </a:endParaRPr>
                    </a:p>
                  </a:txBody>
                  <a:tcPr marL="91440" marR="91440" marT="45720" marB="45720"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c>
                  <a:txBody>
                    <a:bodyPr/>
                    <a:lstStyle/>
                    <a:p>
                      <a:pPr indent="0" marL="0">
                        <a:buNone/>
                      </a:pPr>
                      <a:r>
                        <a:rPr lang="en-US" sz="1000" b="1" dirty="0">
                          <a:solidFill>
                            <a:srgbClr val="0F7C8C"/>
                          </a:solidFill>
                          <a:latin typeface="Calibri" pitchFamily="34" charset="0"/>
                          <a:ea typeface="Calibri" pitchFamily="34" charset="-122"/>
                          <a:cs typeface="Calibri" pitchFamily="34" charset="-120"/>
                        </a:rPr>
                        <a:t>92,7 %</a:t>
                      </a:r>
                      <a:endParaRPr lang="en-US" sz="1000" dirty="0">
                        <a:latin typeface="Calibri" charset="0"/>
                        <a:ea typeface="Calibri" charset="0"/>
                        <a:cs typeface="Calibri" charset="0"/>
                      </a:endParaRPr>
                    </a:p>
                  </a:txBody>
                  <a:tcPr marL="91440" marR="91440" marT="45720" marB="45720" anchor="ctr">
                    <a:lnL w="6350" cap="flat" cmpd="sng" algn="ctr">
                      <a:solidFill>
                        <a:srgbClr val="D9E1E6"/>
                      </a:solidFill>
                      <a:prstDash val="solid"/>
                      <a:round/>
                      <a:headEnd type="none" w="med" len="med"/>
                      <a:tailEnd type="none" w="med" len="med"/>
                    </a:lnL>
                    <a:lnR w="6350" cap="flat" cmpd="sng" algn="ctr">
                      <a:solidFill>
                        <a:srgbClr val="D9E1E6"/>
                      </a:solidFill>
                      <a:prstDash val="solid"/>
                      <a:round/>
                      <a:headEnd type="none" w="med" len="med"/>
                      <a:tailEnd type="none" w="med" len="med"/>
                    </a:lnR>
                    <a:lnT w="6350" cap="flat" cmpd="sng" algn="ctr">
                      <a:solidFill>
                        <a:srgbClr val="D9E1E6"/>
                      </a:solidFill>
                      <a:prstDash val="solid"/>
                      <a:round/>
                      <a:headEnd type="none" w="med" len="med"/>
                      <a:tailEnd type="none" w="med" len="med"/>
                    </a:lnT>
                    <a:lnB w="6350" cap="flat" cmpd="sng" algn="ctr">
                      <a:solidFill>
                        <a:srgbClr val="D9E1E6"/>
                      </a:solidFill>
                      <a:prstDash val="solid"/>
                      <a:round/>
                      <a:headEnd type="none" w="med" len="med"/>
                      <a:tailEnd type="none" w="med" len="med"/>
                    </a:lnB>
                  </a:tcPr>
                </a:tc>
              </a:tr>
            </a:tbl>
          </a:graphicData>
        </a:graphic>
      </p:graphicFrame>
      <p:sp>
        <p:nvSpPr>
          <p:cNvPr id="5" name="Text 1"/>
          <p:cNvSpPr txBox="1"/>
          <p:nvPr/>
        </p:nvSpPr>
        <p:spPr>
          <a:xfrm>
            <a:off x="5760720" y="2926080"/>
            <a:ext cx="2926080" cy="411480"/>
          </a:xfrm>
          <a:prstGeom prst="rect">
            <a:avLst/>
          </a:prstGeom>
          <a:noFill/>
          <a:ln/>
        </p:spPr>
        <p:txBody>
          <a:bodyPr wrap="square" lIns="0" tIns="0" rIns="0" bIns="0" rtlCol="0" anchor="t"/>
          <a:lstStyle/>
          <a:p>
            <a:pPr indent="0" marL="0">
              <a:buNone/>
            </a:pPr>
            <a:r>
              <a:rPr lang="en-US" sz="1000" i="1" dirty="0">
                <a:solidFill>
                  <a:schemeClr val="accent4"/>
                </a:solidFill>
              </a:rPr>
              <a:t>Remplissage plus haut avant… mais avec des vidéos inutiles : remplir ne suffit pas.</a:t>
            </a:r>
            <a:endParaRPr lang="en-US" sz="1000" dirty="0"/>
          </a:p>
        </p:txBody>
      </p:sp>
      <p:sp>
        <p:nvSpPr>
          <p:cNvPr id="6" name="stat_initial_final"/>
          <p:cNvSpPr/>
          <p:nvPr/>
        </p:nvSpPr>
        <p:spPr>
          <a:xfrm>
            <a:off x="5760720" y="3383280"/>
            <a:ext cx="2926080" cy="960120"/>
          </a:xfrm>
          <a:prstGeom prst="roundRect">
            <a:avLst>
              <a:gd name="adj" fmla="val 7619"/>
            </a:avLst>
          </a:prstGeom>
          <a:solidFill>
            <a:srgbClr val="EEF3F6"/>
          </a:solidFill>
          <a:ln w="12700">
            <a:solidFill>
              <a:srgbClr val="EEF3F6"/>
            </a:solidFill>
            <a:prstDash val="solid"/>
          </a:ln>
        </p:spPr>
      </p:sp>
      <p:sp>
        <p:nvSpPr>
          <p:cNvPr id="7" name="Text 3"/>
          <p:cNvSpPr txBox="1"/>
          <p:nvPr/>
        </p:nvSpPr>
        <p:spPr>
          <a:xfrm>
            <a:off x="5897880" y="3456432"/>
            <a:ext cx="265176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+0,35 %</a:t>
            </a:r>
            <a:endParaRPr lang="en-US" sz="2600" dirty="0"/>
          </a:p>
        </p:txBody>
      </p:sp>
      <p:sp>
        <p:nvSpPr>
          <p:cNvPr id="8" name="Text 4"/>
          <p:cNvSpPr txBox="1"/>
          <p:nvPr/>
        </p:nvSpPr>
        <p:spPr>
          <a:xfrm>
            <a:off x="5897880" y="3913632"/>
            <a:ext cx="2651760" cy="384048"/>
          </a:xfrm>
          <a:prstGeom prst="rect">
            <a:avLst/>
          </a:prstGeom>
          <a:noFill/>
          <a:ln/>
        </p:spPr>
        <p:txBody>
          <a:bodyPr wrap="square" lIns="0" tIns="0" rIns="0" bIns="0" rtlCol="0" anchor="t"/>
          <a:lstStyle/>
          <a:p>
            <a:pPr indent="0" marL="0">
              <a:buNone/>
            </a:pPr>
            <a:r>
              <a:rPr lang="en-US" sz="1100" dirty="0">
                <a:solidFill>
                  <a:schemeClr val="tx2"/>
                </a:solidFill>
              </a:rPr>
              <a:t>gain du GA, meilleur initial → final : le départ fait l'essentiel</a:t>
            </a:r>
            <a:endParaRPr lang="en-US" sz="1100" dirty="0"/>
          </a:p>
        </p:txBody>
      </p:sp>
      <p:sp>
        <p:nvSpPr>
          <p:cNvPr id="9" name="Text 5"/>
          <p:cNvSpPr txBox="1"/>
          <p:nvPr/>
        </p:nvSpPr>
        <p:spPr>
          <a:xfrm>
            <a:off x="457200" y="4114800"/>
            <a:ext cx="5120640" cy="640080"/>
          </a:xfrm>
          <a:prstGeom prst="rect">
            <a:avLst/>
          </a:prstGeom>
          <a:noFill/>
          <a:ln/>
        </p:spPr>
        <p:txBody>
          <a:bodyPr wrap="square" lIns="0" tIns="0" rIns="0" bIns="0" rtlCol="0" anchor="t"/>
          <a:lstStyle/>
          <a:p>
            <a:pPr indent="0" marL="0">
              <a:buNone/>
            </a:pPr>
            <a:r>
              <a:rPr lang="en-US" sz="1050" b="1" dirty="0">
                <a:solidFill>
                  <a:srgbClr val="14324A"/>
                </a:solidFill>
              </a:rPr>
              <a:t>Coût d'une évaluation : même ordre </a:t>
            </a:r>
            <a:pPr indent="0" marL="0">
              <a:buNone/>
            </a:pPr>
            <a:r>
              <a:rPr lang="en-US" sz="1050" dirty="0">
                <a:solidFill>
                  <a:srgbClr val="14324A"/>
                </a:solidFill>
              </a:rPr>
              <a:t>(mesuré ×0,13 à ×2,26 selon l'instance) → le gain vient de la qualité, pas de la vitesse.</a:t>
            </a:r>
            <a:endParaRPr lang="en-US" sz="1050" dirty="0"/>
          </a:p>
          <a:p>
            <a:pPr indent="0" marL="0">
              <a:buNone/>
            </a:pPr>
            <a:r>
              <a:rPr lang="en-US" sz="900" dirty="0">
                <a:solidFill>
                  <a:srgbClr val="6B7A8F"/>
                </a:solidFill>
              </a:rPr>
              <a:t>Sources : results/*.out (ancien programme, graine 42) re-notés par score.py ; experiments/before_after.py, solution_stats.py.</a:t>
            </a:r>
            <a:endParaRPr lang="en-US" sz="105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theme/theme1.xml><?xml version="1.0" encoding="utf-8"?>
<a:theme xmlns:a="http://schemas.openxmlformats.org/drawingml/2006/main" name="Streaming caches">
  <a:themeElements>
    <a:clrScheme name="Streaming caches">
      <a:dk1>
        <a:srgbClr val="1B2333"/>
      </a:dk1>
      <a:lt1>
        <a:srgbClr val="FFFFFF"/>
      </a:lt1>
      <a:dk2>
        <a:srgbClr val="14324A"/>
      </a:dk2>
      <a:lt2>
        <a:srgbClr val="EEF3F6"/>
      </a:lt2>
      <a:accent1>
        <a:srgbClr val="0F7C8C"/>
      </a:accent1>
      <a:accent2>
        <a:srgbClr val="E07A3F"/>
      </a:accent2>
      <a:accent3>
        <a:srgbClr val="8DB8C2"/>
      </a:accent3>
      <a:accent4>
        <a:srgbClr val="B5485A"/>
      </a:accent4>
      <a:accent5>
        <a:srgbClr val="6B7A8F"/>
      </a:accent5>
      <a:accent6>
        <a:srgbClr val="F2C14E"/>
      </a:accent6>
      <a:hlink>
        <a:srgbClr val="0F7C8C"/>
      </a:hlink>
      <a:folHlink>
        <a:srgbClr val="6B7A8F"/>
      </a:folHlink>
    </a:clrScheme>
    <a:fontScheme name="Streaming cache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Blocs 1 et 5 — initialisation et décodeur</dc:title>
  <dc:subject>PptxGenJS Presentation</dc:subject>
  <dc:creator>Rihem Ben Jabra</dc:creator>
  <cp:lastModifiedBy>Rihem Ben Jabra</cp:lastModifiedBy>
  <cp:revision>1</cp:revision>
  <dcterms:created xsi:type="dcterms:W3CDTF">2026-10-10T21:27:50Z</dcterms:created>
  <dcterms:modified xsi:type="dcterms:W3CDTF">2026-10-10T21:27:50Z</dcterms:modified>
</cp:coreProperties>
</file>